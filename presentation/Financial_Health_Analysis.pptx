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notesSlides/notesSlide8.xml" ContentType="application/vnd.openxmlformats-officedocument.presentationml.notesSlide+xml"/>
  <Override PartName="/ppt/notesSlides/notesSlide9.xml" ContentType="application/vnd.openxmlformats-officedocument.presentationml.notesSlide+xml"/>
  <Default Extension="xlsx" ContentType="application/vnd.openxmlformats-officedocument.spreadsheetml.sheet"/>
  <Override PartName="/ppt/notesSlides/notesSlide6.xml" ContentType="application/vnd.openxmlformats-officedocument.presentationml.notesSlide+xml"/>
  <Override PartName="/ppt/charts/chart3.xml" ContentType="application/vnd.openxmlformats-officedocument.drawingml.chart+xml"/>
  <Override PartName="/ppt/notesSlides/notesSlide7.xml" ContentType="application/vnd.openxmlformats-officedocument.presentationml.notesSlide+xml"/>
  <Override PartName="/ppt/charts/chart4.xml" ContentType="application/vnd.openxmlformats-officedocument.drawingml.char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611"/>
    <p:restoredTop sz="94610"/>
  </p:normalViewPr>
  <p:slideViewPr>
    <p:cSldViewPr snapToGrid="0" snapToObjects="1">
      <p:cViewPr varScale="1">
        <p:scale>
          <a:sx n="68" d="100"/>
          <a:sy n="68" d="100"/>
        </p:scale>
        <p:origin x="-564" y="-60"/>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Office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Office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Office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Office_Excel_Worksheet4.xlsx"/></Relationships>
</file>

<file path=ppt/charts/chart1.xml><?xml version="1.0" encoding="utf-8"?>
<c:chartSpace xmlns:c="http://schemas.openxmlformats.org/drawingml/2006/chart" xmlns:a="http://schemas.openxmlformats.org/drawingml/2006/main" xmlns:r="http://schemas.openxmlformats.org/officeDocument/2006/relationships">
  <c:lang val="en-US"/>
  <c:roundedCorners val="1"/>
  <c:chart>
    <c:autoTitleDeleted val="1"/>
    <c:plotArea>
      <c:layout/>
      <c:lineChart>
        <c:grouping val="standard"/>
        <c:ser>
          <c:idx val="0"/>
          <c:order val="0"/>
          <c:tx>
            <c:strRef>
              <c:f>Sheet1!$B$1</c:f>
              <c:strCache>
                <c:ptCount val="1"/>
                <c:pt idx="0">
                  <c:v>Current Ratio</c:v>
                </c:pt>
              </c:strCache>
            </c:strRef>
          </c:tx>
          <c:spPr>
            <a:ln w="38100" cap="flat">
              <a:solidFill>
                <a:srgbClr val="1E2761"/>
              </a:solidFill>
              <a:prstDash val="solid"/>
              <a:round/>
            </a:ln>
            <a:effectLst/>
          </c:spPr>
          <c:marker>
            <c:symbol val="circle"/>
            <c:size val="7"/>
            <c:spPr>
              <a:solidFill>
                <a:srgbClr val="1E2761"/>
              </a:solidFill>
              <a:ln w="9525" cap="flat">
                <a:solidFill>
                  <a:srgbClr val="1E2761"/>
                </a:solidFill>
                <a:prstDash val="solid"/>
                <a:round/>
              </a:ln>
              <a:effectLst/>
            </c:spPr>
          </c:marker>
          <c:cat>
            <c:strRef>
              <c:f>Sheet1!$A$2:$A$6</c:f>
              <c:strCache>
                <c:ptCount val="5"/>
                <c:pt idx="0">
                  <c:v>2020</c:v>
                </c:pt>
                <c:pt idx="1">
                  <c:v>2021</c:v>
                </c:pt>
                <c:pt idx="2">
                  <c:v>2022</c:v>
                </c:pt>
                <c:pt idx="3">
                  <c:v>2023</c:v>
                </c:pt>
                <c:pt idx="4">
                  <c:v>2024</c:v>
                </c:pt>
              </c:strCache>
            </c:strRef>
          </c:cat>
          <c:val>
            <c:numRef>
              <c:f>Sheet1!$B$2:$B$6</c:f>
              <c:numCache>
                <c:formatCode>General</c:formatCode>
                <c:ptCount val="5"/>
                <c:pt idx="0">
                  <c:v>2.3099999999999996</c:v>
                </c:pt>
                <c:pt idx="1">
                  <c:v>2.5499999999999998</c:v>
                </c:pt>
                <c:pt idx="2">
                  <c:v>2.74</c:v>
                </c:pt>
                <c:pt idx="3">
                  <c:v>3.03</c:v>
                </c:pt>
                <c:pt idx="4">
                  <c:v>3.38</c:v>
                </c:pt>
              </c:numCache>
            </c:numRef>
          </c:val>
        </c:ser>
        <c:ser>
          <c:idx val="1"/>
          <c:order val="1"/>
          <c:tx>
            <c:strRef>
              <c:f>Sheet1!$C$1</c:f>
              <c:strCache>
                <c:ptCount val="1"/>
                <c:pt idx="0">
                  <c:v>Quick Ratio</c:v>
                </c:pt>
              </c:strCache>
            </c:strRef>
          </c:tx>
          <c:spPr>
            <a:ln w="38100" cap="flat">
              <a:solidFill>
                <a:srgbClr val="2E7D32"/>
              </a:solidFill>
              <a:prstDash val="solid"/>
              <a:round/>
            </a:ln>
            <a:effectLst/>
          </c:spPr>
          <c:marker>
            <c:symbol val="circle"/>
            <c:size val="7"/>
            <c:spPr>
              <a:solidFill>
                <a:srgbClr val="2E7D32"/>
              </a:solidFill>
              <a:ln w="9525" cap="flat">
                <a:solidFill>
                  <a:srgbClr val="2E7D32"/>
                </a:solidFill>
                <a:prstDash val="solid"/>
                <a:round/>
              </a:ln>
              <a:effectLst/>
            </c:spPr>
          </c:marker>
          <c:cat>
            <c:strRef>
              <c:f>Sheet1!$A$2:$A$6</c:f>
              <c:strCache>
                <c:ptCount val="5"/>
                <c:pt idx="0">
                  <c:v>2020</c:v>
                </c:pt>
                <c:pt idx="1">
                  <c:v>2021</c:v>
                </c:pt>
                <c:pt idx="2">
                  <c:v>2022</c:v>
                </c:pt>
                <c:pt idx="3">
                  <c:v>2023</c:v>
                </c:pt>
                <c:pt idx="4">
                  <c:v>2024</c:v>
                </c:pt>
              </c:strCache>
            </c:strRef>
          </c:cat>
          <c:val>
            <c:numRef>
              <c:f>Sheet1!$C$2:$C$6</c:f>
              <c:numCache>
                <c:formatCode>General</c:formatCode>
                <c:ptCount val="5"/>
                <c:pt idx="0">
                  <c:v>1.3800000000000001</c:v>
                </c:pt>
                <c:pt idx="1">
                  <c:v>1.53</c:v>
                </c:pt>
                <c:pt idx="2">
                  <c:v>1.6800000000000002</c:v>
                </c:pt>
                <c:pt idx="3">
                  <c:v>1.92</c:v>
                </c:pt>
                <c:pt idx="4">
                  <c:v>2.2200000000000002</c:v>
                </c:pt>
              </c:numCache>
            </c:numRef>
          </c:val>
        </c:ser>
        <c:ser>
          <c:idx val="2"/>
          <c:order val="2"/>
          <c:tx>
            <c:strRef>
              <c:f>Sheet1!$D$1</c:f>
              <c:strCache>
                <c:ptCount val="1"/>
                <c:pt idx="0">
                  <c:v>Cash Ratio</c:v>
                </c:pt>
              </c:strCache>
            </c:strRef>
          </c:tx>
          <c:spPr>
            <a:ln w="38100" cap="flat">
              <a:solidFill>
                <a:srgbClr val="B8922A"/>
              </a:solidFill>
              <a:prstDash val="solid"/>
              <a:round/>
            </a:ln>
            <a:effectLst/>
          </c:spPr>
          <c:marker>
            <c:symbol val="circle"/>
            <c:size val="7"/>
            <c:spPr>
              <a:solidFill>
                <a:srgbClr val="B8922A"/>
              </a:solidFill>
              <a:ln w="9525" cap="flat">
                <a:solidFill>
                  <a:srgbClr val="B8922A"/>
                </a:solidFill>
                <a:prstDash val="solid"/>
                <a:round/>
              </a:ln>
              <a:effectLst/>
            </c:spPr>
          </c:marker>
          <c:cat>
            <c:strRef>
              <c:f>Sheet1!$A$2:$A$6</c:f>
              <c:strCache>
                <c:ptCount val="5"/>
                <c:pt idx="0">
                  <c:v>2020</c:v>
                </c:pt>
                <c:pt idx="1">
                  <c:v>2021</c:v>
                </c:pt>
                <c:pt idx="2">
                  <c:v>2022</c:v>
                </c:pt>
                <c:pt idx="3">
                  <c:v>2023</c:v>
                </c:pt>
                <c:pt idx="4">
                  <c:v>2024</c:v>
                </c:pt>
              </c:strCache>
            </c:strRef>
          </c:cat>
          <c:val>
            <c:numRef>
              <c:f>Sheet1!$D$2:$D$6</c:f>
              <c:numCache>
                <c:formatCode>General</c:formatCode>
                <c:ptCount val="5"/>
                <c:pt idx="0">
                  <c:v>0.5</c:v>
                </c:pt>
                <c:pt idx="1">
                  <c:v>0.58000000000000007</c:v>
                </c:pt>
                <c:pt idx="2">
                  <c:v>0.66000000000000014</c:v>
                </c:pt>
                <c:pt idx="3">
                  <c:v>0.84000000000000008</c:v>
                </c:pt>
                <c:pt idx="4">
                  <c:v>1.05</c:v>
                </c:pt>
              </c:numCache>
            </c:numRef>
          </c:val>
        </c:ser>
        <c:dLbls/>
        <c:marker val="1"/>
        <c:axId val="164025088"/>
        <c:axId val="164026624"/>
      </c:lineChart>
      <c:catAx>
        <c:axId val="164025088"/>
        <c:scaling>
          <c:orientation val="minMax"/>
        </c:scaling>
        <c:axPos val="b"/>
        <c:numFmt formatCode="General" sourceLinked="1"/>
        <c:tickLblPos val="low"/>
        <c:spPr>
          <a:ln w="12700" cap="flat">
            <a:solidFill>
              <a:srgbClr val="888888"/>
            </a:solidFill>
            <a:prstDash val="solid"/>
            <a:round/>
          </a:ln>
        </c:spPr>
        <c:txPr>
          <a:bodyPr/>
          <a:lstStyle/>
          <a:p>
            <a:pPr>
              <a:defRPr sz="1000" b="0" i="0" u="none" strike="noStrike">
                <a:solidFill>
                  <a:srgbClr val="5B6472"/>
                </a:solidFill>
                <a:latin typeface="Calibri"/>
              </a:defRPr>
            </a:pPr>
            <a:endParaRPr lang="en-US"/>
          </a:p>
        </c:txPr>
        <c:crossAx val="164026624"/>
        <c:crosses val="autoZero"/>
        <c:auto val="1"/>
        <c:lblAlgn val="ctr"/>
        <c:lblOffset val="100"/>
        <c:noMultiLvlLbl val="1"/>
      </c:catAx>
      <c:valAx>
        <c:axId val="164026624"/>
        <c:scaling>
          <c:orientation val="minMax"/>
        </c:scaling>
        <c:axPos val="l"/>
        <c:majorGridlines>
          <c:spPr>
            <a:ln w="12700" cap="flat">
              <a:solidFill>
                <a:srgbClr val="E4E7EE"/>
              </a:solidFill>
              <a:prstDash val="solid"/>
              <a:round/>
            </a:ln>
          </c:spPr>
        </c:majorGridlines>
        <c:numFmt formatCode="General" sourceLinked="0"/>
        <c:tickLblPos val="nextTo"/>
        <c:spPr>
          <a:ln w="12700" cap="flat">
            <a:solidFill>
              <a:srgbClr val="888888"/>
            </a:solidFill>
            <a:prstDash val="solid"/>
            <a:round/>
          </a:ln>
        </c:spPr>
        <c:txPr>
          <a:bodyPr/>
          <a:lstStyle/>
          <a:p>
            <a:pPr>
              <a:defRPr sz="1000" b="0" i="0" u="none" strike="noStrike">
                <a:solidFill>
                  <a:srgbClr val="5B6472"/>
                </a:solidFill>
                <a:latin typeface="Calibri"/>
              </a:defRPr>
            </a:pPr>
            <a:endParaRPr lang="en-US"/>
          </a:p>
        </c:txPr>
        <c:crossAx val="164025088"/>
        <c:crosses val="autoZero"/>
        <c:crossBetween val="between"/>
      </c:valAx>
      <c:spPr>
        <a:noFill/>
        <a:ln>
          <a:noFill/>
        </a:ln>
        <a:effectLst/>
      </c:spPr>
    </c:plotArea>
    <c:legend>
      <c:legendPos val="b"/>
      <c:layout/>
      <c:txPr>
        <a:bodyPr/>
        <a:lstStyle/>
        <a:p>
          <a:pPr>
            <a:defRPr sz="1000">
              <a:solidFill>
                <a:srgbClr val="222222"/>
              </a:solidFill>
              <a:latin typeface="Calibri"/>
              <a:cs typeface="Calibri"/>
            </a:defRPr>
          </a:pPr>
          <a:endParaRPr lang="en-US"/>
        </a:p>
      </c:txPr>
    </c:legend>
    <c:plotVisOnly val="1"/>
    <c:dispBlanksAs val="span"/>
  </c:chart>
  <c:spPr>
    <a:noFill/>
    <a:ln>
      <a:noFill/>
    </a:ln>
    <a:effectLst/>
  </c:spPr>
  <c:externalData r:id="rId1"/>
</c:chartSpace>
</file>

<file path=ppt/charts/chart2.xml><?xml version="1.0" encoding="utf-8"?>
<c:chartSpace xmlns:c="http://schemas.openxmlformats.org/drawingml/2006/chart" xmlns:a="http://schemas.openxmlformats.org/drawingml/2006/main" xmlns:r="http://schemas.openxmlformats.org/officeDocument/2006/relationships">
  <c:lang val="en-US"/>
  <c:roundedCorners val="1"/>
  <c:chart>
    <c:autoTitleDeleted val="1"/>
    <c:plotArea>
      <c:layout/>
      <c:lineChart>
        <c:grouping val="standard"/>
        <c:ser>
          <c:idx val="0"/>
          <c:order val="0"/>
          <c:tx>
            <c:strRef>
              <c:f>Sheet1!$B$1</c:f>
              <c:strCache>
                <c:ptCount val="1"/>
                <c:pt idx="0">
                  <c:v>Gross Margin</c:v>
                </c:pt>
              </c:strCache>
            </c:strRef>
          </c:tx>
          <c:spPr>
            <a:ln w="38100" cap="flat">
              <a:solidFill>
                <a:srgbClr val="1E2761"/>
              </a:solidFill>
              <a:prstDash val="solid"/>
              <a:round/>
            </a:ln>
            <a:effectLst/>
          </c:spPr>
          <c:marker>
            <c:symbol val="circle"/>
            <c:size val="7"/>
            <c:spPr>
              <a:solidFill>
                <a:srgbClr val="1E2761"/>
              </a:solidFill>
              <a:ln w="9525" cap="flat">
                <a:solidFill>
                  <a:srgbClr val="1E2761"/>
                </a:solidFill>
                <a:prstDash val="solid"/>
                <a:round/>
              </a:ln>
              <a:effectLst/>
            </c:spPr>
          </c:marker>
          <c:cat>
            <c:strRef>
              <c:f>Sheet1!$A$2:$A$6</c:f>
              <c:strCache>
                <c:ptCount val="5"/>
                <c:pt idx="0">
                  <c:v>2020</c:v>
                </c:pt>
                <c:pt idx="1">
                  <c:v>2021</c:v>
                </c:pt>
                <c:pt idx="2">
                  <c:v>2022</c:v>
                </c:pt>
                <c:pt idx="3">
                  <c:v>2023</c:v>
                </c:pt>
                <c:pt idx="4">
                  <c:v>2024</c:v>
                </c:pt>
              </c:strCache>
            </c:strRef>
          </c:cat>
          <c:val>
            <c:numRef>
              <c:f>Sheet1!$B$2:$B$6</c:f>
              <c:numCache>
                <c:formatCode>General</c:formatCode>
                <c:ptCount val="5"/>
                <c:pt idx="0">
                  <c:v>40</c:v>
                </c:pt>
                <c:pt idx="1">
                  <c:v>41</c:v>
                </c:pt>
                <c:pt idx="2">
                  <c:v>41</c:v>
                </c:pt>
                <c:pt idx="3">
                  <c:v>42</c:v>
                </c:pt>
                <c:pt idx="4">
                  <c:v>42.6</c:v>
                </c:pt>
              </c:numCache>
            </c:numRef>
          </c:val>
        </c:ser>
        <c:ser>
          <c:idx val="1"/>
          <c:order val="1"/>
          <c:tx>
            <c:strRef>
              <c:f>Sheet1!$C$1</c:f>
              <c:strCache>
                <c:ptCount val="1"/>
                <c:pt idx="0">
                  <c:v>Operating Margin</c:v>
                </c:pt>
              </c:strCache>
            </c:strRef>
          </c:tx>
          <c:spPr>
            <a:ln w="38100" cap="flat">
              <a:solidFill>
                <a:srgbClr val="2E7D32"/>
              </a:solidFill>
              <a:prstDash val="solid"/>
              <a:round/>
            </a:ln>
            <a:effectLst/>
          </c:spPr>
          <c:marker>
            <c:symbol val="circle"/>
            <c:size val="7"/>
            <c:spPr>
              <a:solidFill>
                <a:srgbClr val="2E7D32"/>
              </a:solidFill>
              <a:ln w="9525" cap="flat">
                <a:solidFill>
                  <a:srgbClr val="2E7D32"/>
                </a:solidFill>
                <a:prstDash val="solid"/>
                <a:round/>
              </a:ln>
              <a:effectLst/>
            </c:spPr>
          </c:marker>
          <c:cat>
            <c:strRef>
              <c:f>Sheet1!$A$2:$A$6</c:f>
              <c:strCache>
                <c:ptCount val="5"/>
                <c:pt idx="0">
                  <c:v>2020</c:v>
                </c:pt>
                <c:pt idx="1">
                  <c:v>2021</c:v>
                </c:pt>
                <c:pt idx="2">
                  <c:v>2022</c:v>
                </c:pt>
                <c:pt idx="3">
                  <c:v>2023</c:v>
                </c:pt>
                <c:pt idx="4">
                  <c:v>2024</c:v>
                </c:pt>
              </c:strCache>
            </c:strRef>
          </c:cat>
          <c:val>
            <c:numRef>
              <c:f>Sheet1!$C$2:$C$6</c:f>
              <c:numCache>
                <c:formatCode>General</c:formatCode>
                <c:ptCount val="5"/>
                <c:pt idx="0">
                  <c:v>15</c:v>
                </c:pt>
                <c:pt idx="1">
                  <c:v>17.100000000000001</c:v>
                </c:pt>
                <c:pt idx="2">
                  <c:v>17.600000000000001</c:v>
                </c:pt>
                <c:pt idx="3">
                  <c:v>19.5</c:v>
                </c:pt>
                <c:pt idx="4">
                  <c:v>21.2</c:v>
                </c:pt>
              </c:numCache>
            </c:numRef>
          </c:val>
        </c:ser>
        <c:ser>
          <c:idx val="2"/>
          <c:order val="2"/>
          <c:tx>
            <c:strRef>
              <c:f>Sheet1!$D$1</c:f>
              <c:strCache>
                <c:ptCount val="1"/>
                <c:pt idx="0">
                  <c:v>Net Profit Margin</c:v>
                </c:pt>
              </c:strCache>
            </c:strRef>
          </c:tx>
          <c:spPr>
            <a:ln w="38100" cap="flat">
              <a:solidFill>
                <a:srgbClr val="B8922A"/>
              </a:solidFill>
              <a:prstDash val="solid"/>
              <a:round/>
            </a:ln>
            <a:effectLst/>
          </c:spPr>
          <c:marker>
            <c:symbol val="circle"/>
            <c:size val="7"/>
            <c:spPr>
              <a:solidFill>
                <a:srgbClr val="B8922A"/>
              </a:solidFill>
              <a:ln w="9525" cap="flat">
                <a:solidFill>
                  <a:srgbClr val="B8922A"/>
                </a:solidFill>
                <a:prstDash val="solid"/>
                <a:round/>
              </a:ln>
              <a:effectLst/>
            </c:spPr>
          </c:marker>
          <c:cat>
            <c:strRef>
              <c:f>Sheet1!$A$2:$A$6</c:f>
              <c:strCache>
                <c:ptCount val="5"/>
                <c:pt idx="0">
                  <c:v>2020</c:v>
                </c:pt>
                <c:pt idx="1">
                  <c:v>2021</c:v>
                </c:pt>
                <c:pt idx="2">
                  <c:v>2022</c:v>
                </c:pt>
                <c:pt idx="3">
                  <c:v>2023</c:v>
                </c:pt>
                <c:pt idx="4">
                  <c:v>2024</c:v>
                </c:pt>
              </c:strCache>
            </c:strRef>
          </c:cat>
          <c:val>
            <c:numRef>
              <c:f>Sheet1!$D$2:$D$6</c:f>
              <c:numCache>
                <c:formatCode>General</c:formatCode>
                <c:ptCount val="5"/>
                <c:pt idx="0">
                  <c:v>9.3000000000000007</c:v>
                </c:pt>
                <c:pt idx="1">
                  <c:v>11.2</c:v>
                </c:pt>
                <c:pt idx="2">
                  <c:v>11.9</c:v>
                </c:pt>
                <c:pt idx="3">
                  <c:v>13.5</c:v>
                </c:pt>
                <c:pt idx="4">
                  <c:v>15.1</c:v>
                </c:pt>
              </c:numCache>
            </c:numRef>
          </c:val>
        </c:ser>
        <c:dLbls/>
        <c:marker val="1"/>
        <c:axId val="164262656"/>
        <c:axId val="164264192"/>
      </c:lineChart>
      <c:catAx>
        <c:axId val="164262656"/>
        <c:scaling>
          <c:orientation val="minMax"/>
        </c:scaling>
        <c:axPos val="b"/>
        <c:numFmt formatCode="General" sourceLinked="1"/>
        <c:tickLblPos val="low"/>
        <c:spPr>
          <a:ln w="12700" cap="flat">
            <a:solidFill>
              <a:srgbClr val="888888"/>
            </a:solidFill>
            <a:prstDash val="solid"/>
            <a:round/>
          </a:ln>
        </c:spPr>
        <c:txPr>
          <a:bodyPr/>
          <a:lstStyle/>
          <a:p>
            <a:pPr>
              <a:defRPr sz="1000" b="0" i="0" u="none" strike="noStrike">
                <a:solidFill>
                  <a:srgbClr val="5B6472"/>
                </a:solidFill>
                <a:latin typeface="Calibri"/>
              </a:defRPr>
            </a:pPr>
            <a:endParaRPr lang="en-US"/>
          </a:p>
        </c:txPr>
        <c:crossAx val="164264192"/>
        <c:crosses val="autoZero"/>
        <c:auto val="1"/>
        <c:lblAlgn val="ctr"/>
        <c:lblOffset val="100"/>
        <c:noMultiLvlLbl val="1"/>
      </c:catAx>
      <c:valAx>
        <c:axId val="164264192"/>
        <c:scaling>
          <c:orientation val="minMax"/>
        </c:scaling>
        <c:axPos val="l"/>
        <c:majorGridlines>
          <c:spPr>
            <a:ln w="12700" cap="flat">
              <a:solidFill>
                <a:srgbClr val="E4E7EE"/>
              </a:solidFill>
              <a:prstDash val="solid"/>
              <a:round/>
            </a:ln>
          </c:spPr>
        </c:majorGridlines>
        <c:numFmt formatCode="General" sourceLinked="0"/>
        <c:tickLblPos val="nextTo"/>
        <c:spPr>
          <a:ln w="12700" cap="flat">
            <a:solidFill>
              <a:srgbClr val="888888"/>
            </a:solidFill>
            <a:prstDash val="solid"/>
            <a:round/>
          </a:ln>
        </c:spPr>
        <c:txPr>
          <a:bodyPr/>
          <a:lstStyle/>
          <a:p>
            <a:pPr>
              <a:defRPr sz="1000" b="0" i="0" u="none" strike="noStrike">
                <a:solidFill>
                  <a:srgbClr val="5B6472"/>
                </a:solidFill>
                <a:latin typeface="Calibri"/>
              </a:defRPr>
            </a:pPr>
            <a:endParaRPr lang="en-US"/>
          </a:p>
        </c:txPr>
        <c:crossAx val="164262656"/>
        <c:crosses val="autoZero"/>
        <c:crossBetween val="between"/>
      </c:valAx>
      <c:spPr>
        <a:noFill/>
        <a:ln>
          <a:noFill/>
        </a:ln>
        <a:effectLst/>
      </c:spPr>
    </c:plotArea>
    <c:legend>
      <c:legendPos val="b"/>
      <c:layout/>
      <c:txPr>
        <a:bodyPr/>
        <a:lstStyle/>
        <a:p>
          <a:pPr>
            <a:defRPr sz="1000">
              <a:solidFill>
                <a:srgbClr val="222222"/>
              </a:solidFill>
              <a:latin typeface="Calibri"/>
              <a:cs typeface="Calibri"/>
            </a:defRPr>
          </a:pPr>
          <a:endParaRPr lang="en-US"/>
        </a:p>
      </c:txPr>
    </c:legend>
    <c:plotVisOnly val="1"/>
    <c:dispBlanksAs val="span"/>
  </c:chart>
  <c:spPr>
    <a:noFill/>
    <a:ln>
      <a:noFill/>
    </a:ln>
    <a:effectLst/>
  </c:spPr>
  <c:externalData r:id="rId1"/>
</c:chartSpace>
</file>

<file path=ppt/charts/chart3.xml><?xml version="1.0" encoding="utf-8"?>
<c:chartSpace xmlns:c="http://schemas.openxmlformats.org/drawingml/2006/chart" xmlns:a="http://schemas.openxmlformats.org/drawingml/2006/main" xmlns:r="http://schemas.openxmlformats.org/officeDocument/2006/relationships">
  <c:lang val="en-US"/>
  <c:roundedCorners val="1"/>
  <c:chart>
    <c:autoTitleDeleted val="1"/>
    <c:plotArea>
      <c:layout/>
      <c:barChart>
        <c:barDir val="col"/>
        <c:grouping val="clustered"/>
        <c:ser>
          <c:idx val="0"/>
          <c:order val="0"/>
          <c:tx>
            <c:strRef>
              <c:f>Sheet1!$B$1</c:f>
              <c:strCache>
                <c:ptCount val="1"/>
                <c:pt idx="0">
                  <c:v>Debt-to-Equity</c:v>
                </c:pt>
              </c:strCache>
            </c:strRef>
          </c:tx>
          <c:spPr>
            <a:solidFill>
              <a:srgbClr val="1E2761"/>
            </a:solidFill>
            <a:effectLst/>
          </c:spPr>
          <c:cat>
            <c:strRef>
              <c:f>Sheet1!$A$2:$A$6</c:f>
              <c:strCache>
                <c:ptCount val="5"/>
                <c:pt idx="0">
                  <c:v>2020</c:v>
                </c:pt>
                <c:pt idx="1">
                  <c:v>2021</c:v>
                </c:pt>
                <c:pt idx="2">
                  <c:v>2022</c:v>
                </c:pt>
                <c:pt idx="3">
                  <c:v>2023</c:v>
                </c:pt>
                <c:pt idx="4">
                  <c:v>2024</c:v>
                </c:pt>
              </c:strCache>
            </c:strRef>
          </c:cat>
          <c:val>
            <c:numRef>
              <c:f>Sheet1!$B$2:$B$6</c:f>
              <c:numCache>
                <c:formatCode>General</c:formatCode>
                <c:ptCount val="5"/>
                <c:pt idx="0">
                  <c:v>0.98</c:v>
                </c:pt>
                <c:pt idx="1">
                  <c:v>0.79</c:v>
                </c:pt>
                <c:pt idx="2">
                  <c:v>0.64000000000000012</c:v>
                </c:pt>
                <c:pt idx="3">
                  <c:v>0.52</c:v>
                </c:pt>
                <c:pt idx="4">
                  <c:v>0.42000000000000004</c:v>
                </c:pt>
              </c:numCache>
            </c:numRef>
          </c:val>
        </c:ser>
        <c:ser>
          <c:idx val="1"/>
          <c:order val="1"/>
          <c:tx>
            <c:strRef>
              <c:f>Sheet1!$C$1</c:f>
              <c:strCache>
                <c:ptCount val="1"/>
                <c:pt idx="0">
                  <c:v>Debt-to-Assets</c:v>
                </c:pt>
              </c:strCache>
            </c:strRef>
          </c:tx>
          <c:spPr>
            <a:solidFill>
              <a:srgbClr val="B8922A"/>
            </a:solidFill>
            <a:effectLst/>
          </c:spPr>
          <c:cat>
            <c:strRef>
              <c:f>Sheet1!$A$2:$A$6</c:f>
              <c:strCache>
                <c:ptCount val="5"/>
                <c:pt idx="0">
                  <c:v>2020</c:v>
                </c:pt>
                <c:pt idx="1">
                  <c:v>2021</c:v>
                </c:pt>
                <c:pt idx="2">
                  <c:v>2022</c:v>
                </c:pt>
                <c:pt idx="3">
                  <c:v>2023</c:v>
                </c:pt>
                <c:pt idx="4">
                  <c:v>2024</c:v>
                </c:pt>
              </c:strCache>
            </c:strRef>
          </c:cat>
          <c:val>
            <c:numRef>
              <c:f>Sheet1!$C$2:$C$6</c:f>
              <c:numCache>
                <c:formatCode>General</c:formatCode>
                <c:ptCount val="5"/>
                <c:pt idx="0">
                  <c:v>0.49000000000000005</c:v>
                </c:pt>
                <c:pt idx="1">
                  <c:v>0.44</c:v>
                </c:pt>
                <c:pt idx="2">
                  <c:v>0.39000000000000007</c:v>
                </c:pt>
                <c:pt idx="3">
                  <c:v>0.34</c:v>
                </c:pt>
                <c:pt idx="4">
                  <c:v>0.29000000000000004</c:v>
                </c:pt>
              </c:numCache>
            </c:numRef>
          </c:val>
        </c:ser>
        <c:dLbls/>
        <c:gapWidth val="40"/>
        <c:axId val="110116224"/>
        <c:axId val="110118016"/>
      </c:barChart>
      <c:catAx>
        <c:axId val="110116224"/>
        <c:scaling>
          <c:orientation val="minMax"/>
        </c:scaling>
        <c:axPos val="b"/>
        <c:numFmt formatCode="General" sourceLinked="1"/>
        <c:tickLblPos val="low"/>
        <c:spPr>
          <a:ln w="12700" cap="flat">
            <a:solidFill>
              <a:srgbClr val="888888"/>
            </a:solidFill>
            <a:prstDash val="solid"/>
            <a:round/>
          </a:ln>
        </c:spPr>
        <c:txPr>
          <a:bodyPr/>
          <a:lstStyle/>
          <a:p>
            <a:pPr>
              <a:defRPr sz="1000" b="0" i="0" u="none" strike="noStrike">
                <a:solidFill>
                  <a:srgbClr val="5B6472"/>
                </a:solidFill>
                <a:latin typeface="Calibri"/>
              </a:defRPr>
            </a:pPr>
            <a:endParaRPr lang="en-US"/>
          </a:p>
        </c:txPr>
        <c:crossAx val="110118016"/>
        <c:crosses val="autoZero"/>
        <c:auto val="1"/>
        <c:lblAlgn val="ctr"/>
        <c:lblOffset val="100"/>
        <c:noMultiLvlLbl val="1"/>
      </c:catAx>
      <c:valAx>
        <c:axId val="110118016"/>
        <c:scaling>
          <c:orientation val="minMax"/>
        </c:scaling>
        <c:axPos val="l"/>
        <c:majorGridlines>
          <c:spPr>
            <a:ln w="12700" cap="flat">
              <a:solidFill>
                <a:srgbClr val="E4E7EE"/>
              </a:solidFill>
              <a:prstDash val="solid"/>
              <a:round/>
            </a:ln>
          </c:spPr>
        </c:majorGridlines>
        <c:numFmt formatCode="General" sourceLinked="0"/>
        <c:tickLblPos val="nextTo"/>
        <c:spPr>
          <a:ln w="12700" cap="flat">
            <a:solidFill>
              <a:srgbClr val="888888"/>
            </a:solidFill>
            <a:prstDash val="solid"/>
            <a:round/>
          </a:ln>
        </c:spPr>
        <c:txPr>
          <a:bodyPr/>
          <a:lstStyle/>
          <a:p>
            <a:pPr>
              <a:defRPr sz="1000" b="0" i="0" u="none" strike="noStrike">
                <a:solidFill>
                  <a:srgbClr val="5B6472"/>
                </a:solidFill>
                <a:latin typeface="Calibri"/>
              </a:defRPr>
            </a:pPr>
            <a:endParaRPr lang="en-US"/>
          </a:p>
        </c:txPr>
        <c:crossAx val="110116224"/>
        <c:crosses val="autoZero"/>
        <c:crossBetween val="between"/>
      </c:valAx>
      <c:spPr>
        <a:noFill/>
        <a:ln>
          <a:noFill/>
        </a:ln>
        <a:effectLst/>
      </c:spPr>
    </c:plotArea>
    <c:legend>
      <c:legendPos val="b"/>
      <c:layout/>
      <c:txPr>
        <a:bodyPr/>
        <a:lstStyle/>
        <a:p>
          <a:pPr>
            <a:defRPr sz="1000">
              <a:solidFill>
                <a:srgbClr val="222222"/>
              </a:solidFill>
              <a:latin typeface="Calibri"/>
              <a:cs typeface="Calibri"/>
            </a:defRPr>
          </a:pPr>
          <a:endParaRPr lang="en-US"/>
        </a:p>
      </c:txPr>
    </c:legend>
    <c:plotVisOnly val="1"/>
    <c:dispBlanksAs val="span"/>
  </c:chart>
  <c:spPr>
    <a:noFill/>
    <a:ln>
      <a:noFill/>
    </a:ln>
    <a:effectLst/>
  </c:spPr>
  <c:externalData r:id="rId1"/>
</c:chartSpace>
</file>

<file path=ppt/charts/chart4.xml><?xml version="1.0" encoding="utf-8"?>
<c:chartSpace xmlns:c="http://schemas.openxmlformats.org/drawingml/2006/chart" xmlns:a="http://schemas.openxmlformats.org/drawingml/2006/main" xmlns:r="http://schemas.openxmlformats.org/officeDocument/2006/relationships">
  <c:lang val="en-US"/>
  <c:roundedCorners val="1"/>
  <c:chart>
    <c:autoTitleDeleted val="1"/>
    <c:plotArea>
      <c:layout/>
      <c:barChart>
        <c:barDir val="col"/>
        <c:grouping val="clustered"/>
        <c:ser>
          <c:idx val="0"/>
          <c:order val="0"/>
          <c:tx>
            <c:strRef>
              <c:f>Sheet1!$B$1</c:f>
              <c:strCache>
                <c:ptCount val="1"/>
                <c:pt idx="0">
                  <c:v>Asset Turnover</c:v>
                </c:pt>
              </c:strCache>
            </c:strRef>
          </c:tx>
          <c:spPr>
            <a:solidFill>
              <a:srgbClr val="1E2761"/>
            </a:solidFill>
            <a:effectLst/>
          </c:spPr>
          <c:cat>
            <c:strRef>
              <c:f>Sheet1!$A$2:$A$6</c:f>
              <c:strCache>
                <c:ptCount val="5"/>
                <c:pt idx="0">
                  <c:v>2020</c:v>
                </c:pt>
                <c:pt idx="1">
                  <c:v>2021</c:v>
                </c:pt>
                <c:pt idx="2">
                  <c:v>2022</c:v>
                </c:pt>
                <c:pt idx="3">
                  <c:v>2023</c:v>
                </c:pt>
                <c:pt idx="4">
                  <c:v>2024</c:v>
                </c:pt>
              </c:strCache>
            </c:strRef>
          </c:cat>
          <c:val>
            <c:numRef>
              <c:f>Sheet1!$B$2:$B$6</c:f>
              <c:numCache>
                <c:formatCode>General</c:formatCode>
                <c:ptCount val="5"/>
                <c:pt idx="0">
                  <c:v>1.3800000000000001</c:v>
                </c:pt>
                <c:pt idx="1">
                  <c:v>1.46</c:v>
                </c:pt>
                <c:pt idx="2">
                  <c:v>1.5</c:v>
                </c:pt>
                <c:pt idx="3">
                  <c:v>1.55</c:v>
                </c:pt>
                <c:pt idx="4">
                  <c:v>1.61</c:v>
                </c:pt>
              </c:numCache>
            </c:numRef>
          </c:val>
        </c:ser>
        <c:ser>
          <c:idx val="1"/>
          <c:order val="1"/>
          <c:tx>
            <c:strRef>
              <c:f>Sheet1!$C$1</c:f>
              <c:strCache>
                <c:ptCount val="1"/>
                <c:pt idx="0">
                  <c:v>Inventory Turnover</c:v>
                </c:pt>
              </c:strCache>
            </c:strRef>
          </c:tx>
          <c:spPr>
            <a:solidFill>
              <a:srgbClr val="2E7D32"/>
            </a:solidFill>
            <a:effectLst/>
          </c:spPr>
          <c:cat>
            <c:strRef>
              <c:f>Sheet1!$A$2:$A$6</c:f>
              <c:strCache>
                <c:ptCount val="5"/>
                <c:pt idx="0">
                  <c:v>2020</c:v>
                </c:pt>
                <c:pt idx="1">
                  <c:v>2021</c:v>
                </c:pt>
                <c:pt idx="2">
                  <c:v>2022</c:v>
                </c:pt>
                <c:pt idx="3">
                  <c:v>2023</c:v>
                </c:pt>
                <c:pt idx="4">
                  <c:v>2024</c:v>
                </c:pt>
              </c:strCache>
            </c:strRef>
          </c:cat>
          <c:val>
            <c:numRef>
              <c:f>Sheet1!$C$2:$C$6</c:f>
              <c:numCache>
                <c:formatCode>General</c:formatCode>
                <c:ptCount val="5"/>
                <c:pt idx="0">
                  <c:v>4.8</c:v>
                </c:pt>
                <c:pt idx="1">
                  <c:v>4.8499999999999996</c:v>
                </c:pt>
                <c:pt idx="2">
                  <c:v>5.01</c:v>
                </c:pt>
                <c:pt idx="3">
                  <c:v>5.17</c:v>
                </c:pt>
                <c:pt idx="4">
                  <c:v>5.48</c:v>
                </c:pt>
              </c:numCache>
            </c:numRef>
          </c:val>
        </c:ser>
        <c:ser>
          <c:idx val="2"/>
          <c:order val="2"/>
          <c:tx>
            <c:strRef>
              <c:f>Sheet1!$D$1</c:f>
              <c:strCache>
                <c:ptCount val="1"/>
                <c:pt idx="0">
                  <c:v>Receivables Turnover</c:v>
                </c:pt>
              </c:strCache>
            </c:strRef>
          </c:tx>
          <c:spPr>
            <a:solidFill>
              <a:srgbClr val="B8922A"/>
            </a:solidFill>
            <a:effectLst/>
          </c:spPr>
          <c:cat>
            <c:strRef>
              <c:f>Sheet1!$A$2:$A$6</c:f>
              <c:strCache>
                <c:ptCount val="5"/>
                <c:pt idx="0">
                  <c:v>2020</c:v>
                </c:pt>
                <c:pt idx="1">
                  <c:v>2021</c:v>
                </c:pt>
                <c:pt idx="2">
                  <c:v>2022</c:v>
                </c:pt>
                <c:pt idx="3">
                  <c:v>2023</c:v>
                </c:pt>
                <c:pt idx="4">
                  <c:v>2024</c:v>
                </c:pt>
              </c:strCache>
            </c:strRef>
          </c:cat>
          <c:val>
            <c:numRef>
              <c:f>Sheet1!$D$2:$D$6</c:f>
              <c:numCache>
                <c:formatCode>General</c:formatCode>
                <c:ptCount val="5"/>
                <c:pt idx="0">
                  <c:v>10</c:v>
                </c:pt>
                <c:pt idx="1">
                  <c:v>10.219999999999999</c:v>
                </c:pt>
                <c:pt idx="2">
                  <c:v>10.27</c:v>
                </c:pt>
                <c:pt idx="3">
                  <c:v>10.56</c:v>
                </c:pt>
                <c:pt idx="4">
                  <c:v>10.83</c:v>
                </c:pt>
              </c:numCache>
            </c:numRef>
          </c:val>
        </c:ser>
        <c:dLbls/>
        <c:gapWidth val="40"/>
        <c:axId val="167632256"/>
        <c:axId val="167646336"/>
      </c:barChart>
      <c:catAx>
        <c:axId val="167632256"/>
        <c:scaling>
          <c:orientation val="minMax"/>
        </c:scaling>
        <c:axPos val="b"/>
        <c:numFmt formatCode="General" sourceLinked="1"/>
        <c:tickLblPos val="low"/>
        <c:spPr>
          <a:ln w="12700" cap="flat">
            <a:solidFill>
              <a:srgbClr val="888888"/>
            </a:solidFill>
            <a:prstDash val="solid"/>
            <a:round/>
          </a:ln>
        </c:spPr>
        <c:txPr>
          <a:bodyPr/>
          <a:lstStyle/>
          <a:p>
            <a:pPr>
              <a:defRPr sz="1000" b="0" i="0" u="none" strike="noStrike">
                <a:solidFill>
                  <a:srgbClr val="5B6472"/>
                </a:solidFill>
                <a:latin typeface="Calibri"/>
              </a:defRPr>
            </a:pPr>
            <a:endParaRPr lang="en-US"/>
          </a:p>
        </c:txPr>
        <c:crossAx val="167646336"/>
        <c:crosses val="autoZero"/>
        <c:auto val="1"/>
        <c:lblAlgn val="ctr"/>
        <c:lblOffset val="100"/>
        <c:noMultiLvlLbl val="1"/>
      </c:catAx>
      <c:valAx>
        <c:axId val="167646336"/>
        <c:scaling>
          <c:orientation val="minMax"/>
        </c:scaling>
        <c:axPos val="l"/>
        <c:majorGridlines>
          <c:spPr>
            <a:ln w="12700" cap="flat">
              <a:solidFill>
                <a:srgbClr val="E4E7EE"/>
              </a:solidFill>
              <a:prstDash val="solid"/>
              <a:round/>
            </a:ln>
          </c:spPr>
        </c:majorGridlines>
        <c:numFmt formatCode="General" sourceLinked="0"/>
        <c:tickLblPos val="nextTo"/>
        <c:spPr>
          <a:ln w="12700" cap="flat">
            <a:solidFill>
              <a:srgbClr val="888888"/>
            </a:solidFill>
            <a:prstDash val="solid"/>
            <a:round/>
          </a:ln>
        </c:spPr>
        <c:txPr>
          <a:bodyPr/>
          <a:lstStyle/>
          <a:p>
            <a:pPr>
              <a:defRPr sz="1000" b="0" i="0" u="none" strike="noStrike">
                <a:solidFill>
                  <a:srgbClr val="5B6472"/>
                </a:solidFill>
                <a:latin typeface="Calibri"/>
              </a:defRPr>
            </a:pPr>
            <a:endParaRPr lang="en-US"/>
          </a:p>
        </c:txPr>
        <c:crossAx val="167632256"/>
        <c:crosses val="autoZero"/>
        <c:crossBetween val="between"/>
      </c:valAx>
      <c:spPr>
        <a:noFill/>
        <a:ln>
          <a:noFill/>
        </a:ln>
        <a:effectLst/>
      </c:spPr>
    </c:plotArea>
    <c:legend>
      <c:legendPos val="b"/>
      <c:layout/>
      <c:txPr>
        <a:bodyPr/>
        <a:lstStyle/>
        <a:p>
          <a:pPr>
            <a:defRPr sz="1000">
              <a:solidFill>
                <a:srgbClr val="222222"/>
              </a:solidFill>
              <a:latin typeface="Calibri"/>
              <a:cs typeface="Calibri"/>
            </a:defRPr>
          </a:pPr>
          <a:endParaRPr lang="en-US"/>
        </a:p>
      </c:txPr>
    </c:legend>
    <c:plotVisOnly val="1"/>
    <c:dispBlanksAs val="span"/>
  </c:chart>
  <c:spPr>
    <a:noFill/>
    <a:ln>
      <a:noFill/>
    </a:ln>
    <a:effectLst/>
  </c:spPr>
  <c:externalData r:id="rId1"/>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3</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4</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5</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6</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7</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8</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9</a:t>
            </a:fld>
            <a:endParaRPr lang="en-US"/>
          </a:p>
        </p:txBody>
      </p:sp>
    </p:spTree>
    <p:extLst>
      <p:ext uri="{BB962C8B-B14F-4D97-AF65-F5344CB8AC3E}">
        <p14:creationId xmlns:p14="http://schemas.microsoft.com/office/powerpoint/2010/main" xmlns=""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E2761"/>
          </a:solidFill>
          <a:ln/>
        </p:spPr>
      </p:sp>
      <p:sp>
        <p:nvSpPr>
          <p:cNvPr id="3" name="Text 1"/>
          <p:cNvSpPr/>
          <p:nvPr/>
        </p:nvSpPr>
        <p:spPr>
          <a:xfrm>
            <a:off x="822960" y="2331720"/>
            <a:ext cx="10515600" cy="457200"/>
          </a:xfrm>
          <a:prstGeom prst="rect">
            <a:avLst/>
          </a:prstGeom>
          <a:noFill/>
          <a:ln/>
        </p:spPr>
        <p:txBody>
          <a:bodyPr wrap="square" rtlCol="0" anchor="ctr"/>
          <a:lstStyle/>
          <a:p>
            <a:pPr marL="0" indent="0">
              <a:buNone/>
            </a:pPr>
            <a:r>
              <a:rPr lang="en-US" sz="1400" b="1" kern="0" spc="300" dirty="0">
                <a:solidFill>
                  <a:srgbClr val="B8922A"/>
                </a:solidFill>
                <a:latin typeface="Calibri" pitchFamily="34" charset="0"/>
                <a:ea typeface="Calibri" pitchFamily="34" charset="-122"/>
                <a:cs typeface="Calibri" pitchFamily="34" charset="-120"/>
              </a:rPr>
              <a:t>FINANCIAL HEALTH ANALYSIS</a:t>
            </a:r>
            <a:endParaRPr lang="en-US" sz="1400" dirty="0"/>
          </a:p>
        </p:txBody>
      </p:sp>
      <p:sp>
        <p:nvSpPr>
          <p:cNvPr id="4" name="Text 2"/>
          <p:cNvSpPr/>
          <p:nvPr/>
        </p:nvSpPr>
        <p:spPr>
          <a:xfrm>
            <a:off x="822960" y="2743200"/>
            <a:ext cx="10515600" cy="1005840"/>
          </a:xfrm>
          <a:prstGeom prst="rect">
            <a:avLst/>
          </a:prstGeom>
          <a:noFill/>
          <a:ln/>
        </p:spPr>
        <p:txBody>
          <a:bodyPr wrap="square"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Meridian Retail Group</a:t>
            </a:r>
            <a:endParaRPr lang="en-US" sz="4400" dirty="0"/>
          </a:p>
        </p:txBody>
      </p:sp>
      <p:sp>
        <p:nvSpPr>
          <p:cNvPr id="5" name="Text 3"/>
          <p:cNvSpPr/>
          <p:nvPr/>
        </p:nvSpPr>
        <p:spPr>
          <a:xfrm>
            <a:off x="822960" y="3703320"/>
            <a:ext cx="10515600" cy="822960"/>
          </a:xfrm>
          <a:prstGeom prst="rect">
            <a:avLst/>
          </a:prstGeom>
          <a:noFill/>
          <a:ln/>
        </p:spPr>
        <p:txBody>
          <a:bodyPr wrap="square" rtlCol="0" anchor="ctr"/>
          <a:lstStyle/>
          <a:p>
            <a:pPr marL="0" indent="0">
              <a:lnSpc>
                <a:spcPct val="130000"/>
              </a:lnSpc>
              <a:buNone/>
            </a:pPr>
            <a:r>
              <a:rPr lang="en-US" sz="1600" dirty="0">
                <a:solidFill>
                  <a:srgbClr val="CADCFC"/>
                </a:solidFill>
                <a:latin typeface="Calibri" pitchFamily="34" charset="0"/>
                <a:ea typeface="Calibri" pitchFamily="34" charset="-122"/>
                <a:cs typeface="Calibri" pitchFamily="34" charset="-120"/>
              </a:rPr>
              <a:t>A five-year ratio review of liquidity, profitability, leverage, and efficiency</a:t>
            </a:r>
            <a:endParaRPr lang="en-US" sz="1600" dirty="0"/>
          </a:p>
          <a:p>
            <a:pPr marL="0" indent="0">
              <a:lnSpc>
                <a:spcPct val="130000"/>
              </a:lnSpc>
              <a:buNone/>
            </a:pPr>
            <a:r>
              <a:rPr lang="en-US" sz="1600" dirty="0">
                <a:solidFill>
                  <a:srgbClr val="CADCFC"/>
                </a:solidFill>
                <a:latin typeface="Calibri" pitchFamily="34" charset="0"/>
                <a:ea typeface="Calibri" pitchFamily="34" charset="-122"/>
                <a:cs typeface="Calibri" pitchFamily="34" charset="-120"/>
              </a:rPr>
              <a:t>FY2020 – FY2024</a:t>
            </a:r>
            <a:endParaRPr lang="en-US" sz="1600" dirty="0"/>
          </a:p>
        </p:txBody>
      </p:sp>
      <p:sp>
        <p:nvSpPr>
          <p:cNvPr id="6" name="Text 4"/>
          <p:cNvSpPr/>
          <p:nvPr/>
        </p:nvSpPr>
        <p:spPr>
          <a:xfrm>
            <a:off x="822960" y="6080760"/>
            <a:ext cx="10515600" cy="365760"/>
          </a:xfrm>
          <a:prstGeom prst="rect">
            <a:avLst/>
          </a:prstGeom>
          <a:noFill/>
          <a:ln/>
        </p:spPr>
        <p:txBody>
          <a:bodyPr wrap="square" rtlCol="0" anchor="ctr"/>
          <a:lstStyle/>
          <a:p>
            <a:pPr marL="0" indent="0">
              <a:buNone/>
            </a:pPr>
            <a:r>
              <a:rPr lang="en-US" sz="1100" i="1" dirty="0">
                <a:solidFill>
                  <a:srgbClr val="8C9BC4"/>
                </a:solidFill>
                <a:latin typeface="Calibri" pitchFamily="34" charset="0"/>
                <a:ea typeface="Calibri" pitchFamily="34" charset="-122"/>
                <a:cs typeface="Calibri" pitchFamily="34" charset="-120"/>
              </a:rPr>
              <a:t>Prepared from company financial statements  |  All figures in USD thousands unless noted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B8922A"/>
                </a:solidFill>
                <a:latin typeface="Calibri" pitchFamily="34" charset="0"/>
                <a:ea typeface="Calibri" pitchFamily="34" charset="-122"/>
                <a:cs typeface="Calibri" pitchFamily="34" charset="-120"/>
              </a:rPr>
              <a:t>EXECUTIVE SUMMARY</a:t>
            </a:r>
            <a:endParaRPr lang="en-US" sz="1200" dirty="0"/>
          </a:p>
        </p:txBody>
      </p:sp>
      <p:sp>
        <p:nvSpPr>
          <p:cNvPr id="3" name="Text 1"/>
          <p:cNvSpPr/>
          <p:nvPr/>
        </p:nvSpPr>
        <p:spPr>
          <a:xfrm>
            <a:off x="548640" y="658368"/>
            <a:ext cx="11064240" cy="64008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The business strengthened its financial position every year</a:t>
            </a:r>
            <a:endParaRPr lang="en-US" sz="2800" dirty="0"/>
          </a:p>
        </p:txBody>
      </p:sp>
      <p:sp>
        <p:nvSpPr>
          <p:cNvPr id="4" name="Text 2"/>
          <p:cNvSpPr/>
          <p:nvPr/>
        </p:nvSpPr>
        <p:spPr>
          <a:xfrm>
            <a:off x="548640" y="1417320"/>
            <a:ext cx="11064240" cy="822960"/>
          </a:xfrm>
          <a:prstGeom prst="rect">
            <a:avLst/>
          </a:prstGeom>
          <a:noFill/>
          <a:ln/>
        </p:spPr>
        <p:txBody>
          <a:bodyPr wrap="square" rtlCol="0" anchor="ctr"/>
          <a:lstStyle/>
          <a:p>
            <a:pPr marL="0" indent="0">
              <a:lnSpc>
                <a:spcPct val="125000"/>
              </a:lnSpc>
              <a:buNone/>
            </a:pPr>
            <a:r>
              <a:rPr lang="en-US" sz="1350" dirty="0">
                <a:solidFill>
                  <a:srgbClr val="222222"/>
                </a:solidFill>
                <a:latin typeface="Calibri" pitchFamily="34" charset="0"/>
                <a:ea typeface="Calibri" pitchFamily="34" charset="-122"/>
                <a:cs typeface="Calibri" pitchFamily="34" charset="-120"/>
              </a:rPr>
              <a:t>Revenue grew from $120.0M to $196.0M (a 63% increase) while margins widened and leverage declined. Every liquidity, profitability, and coverage ratio tracked in this analysis improved between FY2020 and FY2024, and the company enters FY2025 in its strongest balance-sheet position of the period.</a:t>
            </a:r>
            <a:endParaRPr lang="en-US" sz="1350" dirty="0"/>
          </a:p>
        </p:txBody>
      </p:sp>
      <p:sp>
        <p:nvSpPr>
          <p:cNvPr id="5" name="Shape 3"/>
          <p:cNvSpPr/>
          <p:nvPr/>
        </p:nvSpPr>
        <p:spPr>
          <a:xfrm>
            <a:off x="548640" y="2514600"/>
            <a:ext cx="2606040" cy="1965960"/>
          </a:xfrm>
          <a:prstGeom prst="rect">
            <a:avLst/>
          </a:prstGeom>
          <a:solidFill>
            <a:srgbClr val="F4F6FB"/>
          </a:solidFill>
          <a:ln w="12700">
            <a:solidFill>
              <a:srgbClr val="D9DEE8"/>
            </a:solidFill>
            <a:prstDash val="solid"/>
          </a:ln>
        </p:spPr>
      </p:sp>
      <p:sp>
        <p:nvSpPr>
          <p:cNvPr id="6" name="Text 4"/>
          <p:cNvSpPr/>
          <p:nvPr/>
        </p:nvSpPr>
        <p:spPr>
          <a:xfrm>
            <a:off x="713232" y="2697480"/>
            <a:ext cx="2276856" cy="548640"/>
          </a:xfrm>
          <a:prstGeom prst="rect">
            <a:avLst/>
          </a:prstGeom>
          <a:noFill/>
          <a:ln/>
        </p:spPr>
        <p:txBody>
          <a:bodyPr wrap="square" rtlCol="0" anchor="ctr"/>
          <a:lstStyle/>
          <a:p>
            <a:pPr marL="0" indent="0">
              <a:lnSpc>
                <a:spcPct val="110000"/>
              </a:lnSpc>
              <a:buNone/>
            </a:pPr>
            <a:r>
              <a:rPr lang="en-US" sz="1100" b="1" dirty="0">
                <a:solidFill>
                  <a:srgbClr val="5B6472"/>
                </a:solidFill>
                <a:latin typeface="Calibri" pitchFamily="34" charset="0"/>
                <a:ea typeface="Calibri" pitchFamily="34" charset="-122"/>
                <a:cs typeface="Calibri" pitchFamily="34" charset="-120"/>
              </a:rPr>
              <a:t>Revenue Growth</a:t>
            </a:r>
            <a:endParaRPr lang="en-US" sz="1100" dirty="0"/>
          </a:p>
          <a:p>
            <a:pPr marL="0" indent="0">
              <a:lnSpc>
                <a:spcPct val="110000"/>
              </a:lnSpc>
              <a:buNone/>
            </a:pPr>
            <a:r>
              <a:rPr lang="en-US" sz="1100" b="1" dirty="0">
                <a:solidFill>
                  <a:srgbClr val="5B6472"/>
                </a:solidFill>
                <a:latin typeface="Calibri" pitchFamily="34" charset="0"/>
                <a:ea typeface="Calibri" pitchFamily="34" charset="-122"/>
                <a:cs typeface="Calibri" pitchFamily="34" charset="-120"/>
              </a:rPr>
              <a:t>(FY20–FY24)</a:t>
            </a:r>
            <a:endParaRPr lang="en-US" sz="1100" dirty="0"/>
          </a:p>
        </p:txBody>
      </p:sp>
      <p:sp>
        <p:nvSpPr>
          <p:cNvPr id="7" name="Text 5"/>
          <p:cNvSpPr/>
          <p:nvPr/>
        </p:nvSpPr>
        <p:spPr>
          <a:xfrm>
            <a:off x="713232" y="3291840"/>
            <a:ext cx="2276856"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+63.3%</a:t>
            </a:r>
            <a:endParaRPr lang="en-US" sz="3000" dirty="0"/>
          </a:p>
        </p:txBody>
      </p:sp>
      <p:sp>
        <p:nvSpPr>
          <p:cNvPr id="8" name="Text 6"/>
          <p:cNvSpPr/>
          <p:nvPr/>
        </p:nvSpPr>
        <p:spPr>
          <a:xfrm>
            <a:off x="713232" y="3995928"/>
            <a:ext cx="2276856" cy="365760"/>
          </a:xfrm>
          <a:prstGeom prst="rect">
            <a:avLst/>
          </a:prstGeom>
          <a:noFill/>
          <a:ln/>
        </p:spPr>
        <p:txBody>
          <a:bodyPr wrap="square" rtlCol="0" anchor="ctr"/>
          <a:lstStyle/>
          <a:p>
            <a:pPr marL="0" indent="0">
              <a:buNone/>
            </a:pPr>
            <a:r>
              <a:rPr lang="en-US" sz="1050" i="1" dirty="0">
                <a:solidFill>
                  <a:srgbClr val="2E7D32"/>
                </a:solidFill>
                <a:latin typeface="Calibri" pitchFamily="34" charset="0"/>
                <a:ea typeface="Calibri" pitchFamily="34" charset="-122"/>
                <a:cs typeface="Calibri" pitchFamily="34" charset="-120"/>
              </a:rPr>
              <a:t>$120.0M → $196.0M</a:t>
            </a:r>
            <a:endParaRPr lang="en-US" sz="1050" dirty="0"/>
          </a:p>
        </p:txBody>
      </p:sp>
      <p:sp>
        <p:nvSpPr>
          <p:cNvPr id="9" name="Shape 7"/>
          <p:cNvSpPr/>
          <p:nvPr/>
        </p:nvSpPr>
        <p:spPr>
          <a:xfrm>
            <a:off x="3383280" y="2514600"/>
            <a:ext cx="2606040" cy="1965960"/>
          </a:xfrm>
          <a:prstGeom prst="rect">
            <a:avLst/>
          </a:prstGeom>
          <a:solidFill>
            <a:srgbClr val="F4F6FB"/>
          </a:solidFill>
          <a:ln w="12700">
            <a:solidFill>
              <a:srgbClr val="D9DEE8"/>
            </a:solidFill>
            <a:prstDash val="solid"/>
          </a:ln>
        </p:spPr>
      </p:sp>
      <p:sp>
        <p:nvSpPr>
          <p:cNvPr id="10" name="Text 8"/>
          <p:cNvSpPr/>
          <p:nvPr/>
        </p:nvSpPr>
        <p:spPr>
          <a:xfrm>
            <a:off x="3547872" y="2697480"/>
            <a:ext cx="2276856" cy="548640"/>
          </a:xfrm>
          <a:prstGeom prst="rect">
            <a:avLst/>
          </a:prstGeom>
          <a:noFill/>
          <a:ln/>
        </p:spPr>
        <p:txBody>
          <a:bodyPr wrap="square" rtlCol="0" anchor="ctr"/>
          <a:lstStyle/>
          <a:p>
            <a:pPr marL="0" indent="0">
              <a:lnSpc>
                <a:spcPct val="110000"/>
              </a:lnSpc>
              <a:buNone/>
            </a:pPr>
            <a:r>
              <a:rPr lang="en-US" sz="1100" b="1" dirty="0">
                <a:solidFill>
                  <a:srgbClr val="5B6472"/>
                </a:solidFill>
                <a:latin typeface="Calibri" pitchFamily="34" charset="0"/>
                <a:ea typeface="Calibri" pitchFamily="34" charset="-122"/>
                <a:cs typeface="Calibri" pitchFamily="34" charset="-120"/>
              </a:rPr>
              <a:t>Net Profit Margin</a:t>
            </a:r>
            <a:endParaRPr lang="en-US" sz="1100" dirty="0"/>
          </a:p>
          <a:p>
            <a:pPr marL="0" indent="0">
              <a:lnSpc>
                <a:spcPct val="110000"/>
              </a:lnSpc>
              <a:buNone/>
            </a:pPr>
            <a:r>
              <a:rPr lang="en-US" sz="1100" b="1" dirty="0">
                <a:solidFill>
                  <a:srgbClr val="5B6472"/>
                </a:solidFill>
                <a:latin typeface="Calibri" pitchFamily="34" charset="0"/>
                <a:ea typeface="Calibri" pitchFamily="34" charset="-122"/>
                <a:cs typeface="Calibri" pitchFamily="34" charset="-120"/>
              </a:rPr>
              <a:t>(FY24)</a:t>
            </a:r>
            <a:endParaRPr lang="en-US" sz="1100" dirty="0"/>
          </a:p>
        </p:txBody>
      </p:sp>
      <p:sp>
        <p:nvSpPr>
          <p:cNvPr id="11" name="Text 9"/>
          <p:cNvSpPr/>
          <p:nvPr/>
        </p:nvSpPr>
        <p:spPr>
          <a:xfrm>
            <a:off x="3547872" y="3291840"/>
            <a:ext cx="2276856"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15.1%</a:t>
            </a:r>
            <a:endParaRPr lang="en-US" sz="3000" dirty="0"/>
          </a:p>
        </p:txBody>
      </p:sp>
      <p:sp>
        <p:nvSpPr>
          <p:cNvPr id="12" name="Text 10"/>
          <p:cNvSpPr/>
          <p:nvPr/>
        </p:nvSpPr>
        <p:spPr>
          <a:xfrm>
            <a:off x="3547872" y="3995928"/>
            <a:ext cx="2276856" cy="365760"/>
          </a:xfrm>
          <a:prstGeom prst="rect">
            <a:avLst/>
          </a:prstGeom>
          <a:noFill/>
          <a:ln/>
        </p:spPr>
        <p:txBody>
          <a:bodyPr wrap="square" rtlCol="0" anchor="ctr"/>
          <a:lstStyle/>
          <a:p>
            <a:pPr marL="0" indent="0">
              <a:buNone/>
            </a:pPr>
            <a:r>
              <a:rPr lang="en-US" sz="1050" i="1" dirty="0">
                <a:solidFill>
                  <a:srgbClr val="2E7D32"/>
                </a:solidFill>
                <a:latin typeface="Calibri" pitchFamily="34" charset="0"/>
                <a:ea typeface="Calibri" pitchFamily="34" charset="-122"/>
                <a:cs typeface="Calibri" pitchFamily="34" charset="-120"/>
              </a:rPr>
              <a:t>up from 9.3% in FY20</a:t>
            </a:r>
            <a:endParaRPr lang="en-US" sz="1050" dirty="0"/>
          </a:p>
        </p:txBody>
      </p:sp>
      <p:sp>
        <p:nvSpPr>
          <p:cNvPr id="13" name="Shape 11"/>
          <p:cNvSpPr/>
          <p:nvPr/>
        </p:nvSpPr>
        <p:spPr>
          <a:xfrm>
            <a:off x="6217920" y="2514600"/>
            <a:ext cx="2606040" cy="1965960"/>
          </a:xfrm>
          <a:prstGeom prst="rect">
            <a:avLst/>
          </a:prstGeom>
          <a:solidFill>
            <a:srgbClr val="F4F6FB"/>
          </a:solidFill>
          <a:ln w="12700">
            <a:solidFill>
              <a:srgbClr val="D9DEE8"/>
            </a:solidFill>
            <a:prstDash val="solid"/>
          </a:ln>
        </p:spPr>
      </p:sp>
      <p:sp>
        <p:nvSpPr>
          <p:cNvPr id="14" name="Text 12"/>
          <p:cNvSpPr/>
          <p:nvPr/>
        </p:nvSpPr>
        <p:spPr>
          <a:xfrm>
            <a:off x="6382512" y="2697480"/>
            <a:ext cx="2276856" cy="548640"/>
          </a:xfrm>
          <a:prstGeom prst="rect">
            <a:avLst/>
          </a:prstGeom>
          <a:noFill/>
          <a:ln/>
        </p:spPr>
        <p:txBody>
          <a:bodyPr wrap="square" rtlCol="0" anchor="ctr"/>
          <a:lstStyle/>
          <a:p>
            <a:pPr marL="0" indent="0">
              <a:lnSpc>
                <a:spcPct val="110000"/>
              </a:lnSpc>
              <a:buNone/>
            </a:pPr>
            <a:r>
              <a:rPr lang="en-US" sz="1100" b="1" dirty="0">
                <a:solidFill>
                  <a:srgbClr val="5B6472"/>
                </a:solidFill>
                <a:latin typeface="Calibri" pitchFamily="34" charset="0"/>
                <a:ea typeface="Calibri" pitchFamily="34" charset="-122"/>
                <a:cs typeface="Calibri" pitchFamily="34" charset="-120"/>
              </a:rPr>
              <a:t>Current Ratio</a:t>
            </a:r>
            <a:endParaRPr lang="en-US" sz="1100" dirty="0"/>
          </a:p>
          <a:p>
            <a:pPr marL="0" indent="0">
              <a:lnSpc>
                <a:spcPct val="110000"/>
              </a:lnSpc>
              <a:buNone/>
            </a:pPr>
            <a:r>
              <a:rPr lang="en-US" sz="1100" b="1" dirty="0">
                <a:solidFill>
                  <a:srgbClr val="5B6472"/>
                </a:solidFill>
                <a:latin typeface="Calibri" pitchFamily="34" charset="0"/>
                <a:ea typeface="Calibri" pitchFamily="34" charset="-122"/>
                <a:cs typeface="Calibri" pitchFamily="34" charset="-120"/>
              </a:rPr>
              <a:t>(FY24)</a:t>
            </a:r>
            <a:endParaRPr lang="en-US" sz="1100" dirty="0"/>
          </a:p>
        </p:txBody>
      </p:sp>
      <p:sp>
        <p:nvSpPr>
          <p:cNvPr id="15" name="Text 13"/>
          <p:cNvSpPr/>
          <p:nvPr/>
        </p:nvSpPr>
        <p:spPr>
          <a:xfrm>
            <a:off x="6382512" y="3291840"/>
            <a:ext cx="2276856"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3.38x</a:t>
            </a:r>
            <a:endParaRPr lang="en-US" sz="3000" dirty="0"/>
          </a:p>
        </p:txBody>
      </p:sp>
      <p:sp>
        <p:nvSpPr>
          <p:cNvPr id="16" name="Text 14"/>
          <p:cNvSpPr/>
          <p:nvPr/>
        </p:nvSpPr>
        <p:spPr>
          <a:xfrm>
            <a:off x="6382512" y="3995928"/>
            <a:ext cx="2276856" cy="365760"/>
          </a:xfrm>
          <a:prstGeom prst="rect">
            <a:avLst/>
          </a:prstGeom>
          <a:noFill/>
          <a:ln/>
        </p:spPr>
        <p:txBody>
          <a:bodyPr wrap="square" rtlCol="0" anchor="ctr"/>
          <a:lstStyle/>
          <a:p>
            <a:pPr marL="0" indent="0">
              <a:buNone/>
            </a:pPr>
            <a:r>
              <a:rPr lang="en-US" sz="1050" i="1" dirty="0">
                <a:solidFill>
                  <a:srgbClr val="2E7D32"/>
                </a:solidFill>
                <a:latin typeface="Calibri" pitchFamily="34" charset="0"/>
                <a:ea typeface="Calibri" pitchFamily="34" charset="-122"/>
                <a:cs typeface="Calibri" pitchFamily="34" charset="-120"/>
              </a:rPr>
              <a:t>up from 2.31x in FY20</a:t>
            </a:r>
            <a:endParaRPr lang="en-US" sz="1050" dirty="0"/>
          </a:p>
        </p:txBody>
      </p:sp>
      <p:sp>
        <p:nvSpPr>
          <p:cNvPr id="17" name="Shape 15"/>
          <p:cNvSpPr/>
          <p:nvPr/>
        </p:nvSpPr>
        <p:spPr>
          <a:xfrm>
            <a:off x="9052560" y="2514600"/>
            <a:ext cx="2606040" cy="1965960"/>
          </a:xfrm>
          <a:prstGeom prst="rect">
            <a:avLst/>
          </a:prstGeom>
          <a:solidFill>
            <a:srgbClr val="F4F6FB"/>
          </a:solidFill>
          <a:ln w="12700">
            <a:solidFill>
              <a:srgbClr val="D9DEE8"/>
            </a:solidFill>
            <a:prstDash val="solid"/>
          </a:ln>
        </p:spPr>
      </p:sp>
      <p:sp>
        <p:nvSpPr>
          <p:cNvPr id="18" name="Text 16"/>
          <p:cNvSpPr/>
          <p:nvPr/>
        </p:nvSpPr>
        <p:spPr>
          <a:xfrm>
            <a:off x="9217152" y="2697480"/>
            <a:ext cx="2276856" cy="548640"/>
          </a:xfrm>
          <a:prstGeom prst="rect">
            <a:avLst/>
          </a:prstGeom>
          <a:noFill/>
          <a:ln/>
        </p:spPr>
        <p:txBody>
          <a:bodyPr wrap="square" rtlCol="0" anchor="ctr"/>
          <a:lstStyle/>
          <a:p>
            <a:pPr marL="0" indent="0">
              <a:lnSpc>
                <a:spcPct val="110000"/>
              </a:lnSpc>
              <a:buNone/>
            </a:pPr>
            <a:r>
              <a:rPr lang="en-US" sz="1100" b="1" dirty="0">
                <a:solidFill>
                  <a:srgbClr val="5B6472"/>
                </a:solidFill>
                <a:latin typeface="Calibri" pitchFamily="34" charset="0"/>
                <a:ea typeface="Calibri" pitchFamily="34" charset="-122"/>
                <a:cs typeface="Calibri" pitchFamily="34" charset="-120"/>
              </a:rPr>
              <a:t>Debt-to-Equity</a:t>
            </a:r>
            <a:endParaRPr lang="en-US" sz="1100" dirty="0"/>
          </a:p>
          <a:p>
            <a:pPr marL="0" indent="0">
              <a:lnSpc>
                <a:spcPct val="110000"/>
              </a:lnSpc>
              <a:buNone/>
            </a:pPr>
            <a:r>
              <a:rPr lang="en-US" sz="1100" b="1" dirty="0">
                <a:solidFill>
                  <a:srgbClr val="5B6472"/>
                </a:solidFill>
                <a:latin typeface="Calibri" pitchFamily="34" charset="0"/>
                <a:ea typeface="Calibri" pitchFamily="34" charset="-122"/>
                <a:cs typeface="Calibri" pitchFamily="34" charset="-120"/>
              </a:rPr>
              <a:t>(FY24)</a:t>
            </a:r>
            <a:endParaRPr lang="en-US" sz="1100" dirty="0"/>
          </a:p>
        </p:txBody>
      </p:sp>
      <p:sp>
        <p:nvSpPr>
          <p:cNvPr id="19" name="Text 17"/>
          <p:cNvSpPr/>
          <p:nvPr/>
        </p:nvSpPr>
        <p:spPr>
          <a:xfrm>
            <a:off x="9217152" y="3291840"/>
            <a:ext cx="2276856"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0.42x</a:t>
            </a:r>
            <a:endParaRPr lang="en-US" sz="3000" dirty="0"/>
          </a:p>
        </p:txBody>
      </p:sp>
      <p:sp>
        <p:nvSpPr>
          <p:cNvPr id="20" name="Text 18"/>
          <p:cNvSpPr/>
          <p:nvPr/>
        </p:nvSpPr>
        <p:spPr>
          <a:xfrm>
            <a:off x="9217152" y="3995928"/>
            <a:ext cx="2276856" cy="365760"/>
          </a:xfrm>
          <a:prstGeom prst="rect">
            <a:avLst/>
          </a:prstGeom>
          <a:noFill/>
          <a:ln/>
        </p:spPr>
        <p:txBody>
          <a:bodyPr wrap="square" rtlCol="0" anchor="ctr"/>
          <a:lstStyle/>
          <a:p>
            <a:pPr marL="0" indent="0">
              <a:buNone/>
            </a:pPr>
            <a:r>
              <a:rPr lang="en-US" sz="1050" i="1" dirty="0">
                <a:solidFill>
                  <a:srgbClr val="2E7D32"/>
                </a:solidFill>
                <a:latin typeface="Calibri" pitchFamily="34" charset="0"/>
                <a:ea typeface="Calibri" pitchFamily="34" charset="-122"/>
                <a:cs typeface="Calibri" pitchFamily="34" charset="-120"/>
              </a:rPr>
              <a:t>down from 0.98x in FY20</a:t>
            </a:r>
            <a:endParaRPr lang="en-US" sz="1050" dirty="0"/>
          </a:p>
        </p:txBody>
      </p:sp>
      <p:sp>
        <p:nvSpPr>
          <p:cNvPr id="21" name="Text 19"/>
          <p:cNvSpPr/>
          <p:nvPr/>
        </p:nvSpPr>
        <p:spPr>
          <a:xfrm>
            <a:off x="548640" y="4800600"/>
            <a:ext cx="11064240" cy="320040"/>
          </a:xfrm>
          <a:prstGeom prst="rect">
            <a:avLst/>
          </a:prstGeom>
          <a:noFill/>
          <a:ln/>
        </p:spPr>
        <p:txBody>
          <a:bodyPr wrap="square" rtlCol="0" anchor="ctr"/>
          <a:lstStyle/>
          <a:p>
            <a:pPr marL="0" indent="0">
              <a:buNone/>
            </a:pPr>
            <a:r>
              <a:rPr lang="en-US" sz="1050" i="1" dirty="0">
                <a:solidFill>
                  <a:srgbClr val="5B6472"/>
                </a:solidFill>
                <a:latin typeface="Calibri" pitchFamily="34" charset="0"/>
                <a:ea typeface="Calibri" pitchFamily="34" charset="-122"/>
                <a:cs typeface="Calibri" pitchFamily="34" charset="-120"/>
              </a:rPr>
              <a:t>Ratings below reflect performance against the benchmark thresholds documented in the dashboard's Benchmarks sheet.</a:t>
            </a:r>
            <a:endParaRPr lang="en-US" sz="1050" dirty="0"/>
          </a:p>
        </p:txBody>
      </p:sp>
      <p:sp>
        <p:nvSpPr>
          <p:cNvPr id="22" name="Text 20"/>
          <p:cNvSpPr/>
          <p:nvPr/>
        </p:nvSpPr>
        <p:spPr>
          <a:xfrm>
            <a:off x="548640" y="5257800"/>
            <a:ext cx="2606040" cy="274320"/>
          </a:xfrm>
          <a:prstGeom prst="rect">
            <a:avLst/>
          </a:prstGeom>
          <a:noFill/>
          <a:ln/>
        </p:spPr>
        <p:txBody>
          <a:bodyPr wrap="square" rtlCol="0" anchor="ctr"/>
          <a:lstStyle/>
          <a:p>
            <a:pPr marL="0" indent="0">
              <a:buNone/>
            </a:pPr>
            <a:r>
              <a:rPr lang="en-US" sz="1000" b="1" kern="0" spc="100" dirty="0">
                <a:solidFill>
                  <a:srgbClr val="B8922A"/>
                </a:solidFill>
                <a:latin typeface="Calibri" pitchFamily="34" charset="0"/>
                <a:ea typeface="Calibri" pitchFamily="34" charset="-122"/>
                <a:cs typeface="Calibri" pitchFamily="34" charset="-120"/>
              </a:rPr>
              <a:t>LIQUIDITY</a:t>
            </a:r>
            <a:endParaRPr lang="en-US" sz="1000" dirty="0"/>
          </a:p>
        </p:txBody>
      </p:sp>
      <p:sp>
        <p:nvSpPr>
          <p:cNvPr id="23" name="Text 21"/>
          <p:cNvSpPr/>
          <p:nvPr/>
        </p:nvSpPr>
        <p:spPr>
          <a:xfrm>
            <a:off x="548640" y="5513832"/>
            <a:ext cx="2606040" cy="457200"/>
          </a:xfrm>
          <a:prstGeom prst="rect">
            <a:avLst/>
          </a:prstGeom>
          <a:noFill/>
          <a:ln/>
        </p:spPr>
        <p:txBody>
          <a:bodyPr wrap="square" rtlCol="0" anchor="ctr"/>
          <a:lstStyle/>
          <a:p>
            <a:pPr marL="0" indent="0">
              <a:buNone/>
            </a:pPr>
            <a:r>
              <a:rPr lang="en-US" sz="950" dirty="0">
                <a:solidFill>
                  <a:srgbClr val="222222"/>
                </a:solidFill>
                <a:latin typeface="Calibri" pitchFamily="34" charset="0"/>
                <a:ea typeface="Calibri" pitchFamily="34" charset="-122"/>
                <a:cs typeface="Calibri" pitchFamily="34" charset="-120"/>
              </a:rPr>
              <a:t>Current Ratio: 3.38x   ·   Quick Ratio: 2.22x   ·   Cash Ratio: 1.05x</a:t>
            </a:r>
            <a:endParaRPr lang="en-US" sz="950" dirty="0"/>
          </a:p>
        </p:txBody>
      </p:sp>
      <p:sp>
        <p:nvSpPr>
          <p:cNvPr id="24" name="Text 22"/>
          <p:cNvSpPr/>
          <p:nvPr/>
        </p:nvSpPr>
        <p:spPr>
          <a:xfrm>
            <a:off x="3383280" y="5257800"/>
            <a:ext cx="2606040" cy="274320"/>
          </a:xfrm>
          <a:prstGeom prst="rect">
            <a:avLst/>
          </a:prstGeom>
          <a:noFill/>
          <a:ln/>
        </p:spPr>
        <p:txBody>
          <a:bodyPr wrap="square" rtlCol="0" anchor="ctr"/>
          <a:lstStyle/>
          <a:p>
            <a:pPr marL="0" indent="0">
              <a:buNone/>
            </a:pPr>
            <a:r>
              <a:rPr lang="en-US" sz="1000" b="1" kern="0" spc="100" dirty="0">
                <a:solidFill>
                  <a:srgbClr val="B8922A"/>
                </a:solidFill>
                <a:latin typeface="Calibri" pitchFamily="34" charset="0"/>
                <a:ea typeface="Calibri" pitchFamily="34" charset="-122"/>
                <a:cs typeface="Calibri" pitchFamily="34" charset="-120"/>
              </a:rPr>
              <a:t>PROFITABILITY</a:t>
            </a:r>
            <a:endParaRPr lang="en-US" sz="1000" dirty="0"/>
          </a:p>
        </p:txBody>
      </p:sp>
      <p:sp>
        <p:nvSpPr>
          <p:cNvPr id="25" name="Text 23"/>
          <p:cNvSpPr/>
          <p:nvPr/>
        </p:nvSpPr>
        <p:spPr>
          <a:xfrm>
            <a:off x="3383280" y="5513832"/>
            <a:ext cx="2606040" cy="457200"/>
          </a:xfrm>
          <a:prstGeom prst="rect">
            <a:avLst/>
          </a:prstGeom>
          <a:noFill/>
          <a:ln/>
        </p:spPr>
        <p:txBody>
          <a:bodyPr wrap="square" rtlCol="0" anchor="ctr"/>
          <a:lstStyle/>
          <a:p>
            <a:pPr marL="0" indent="0">
              <a:buNone/>
            </a:pPr>
            <a:r>
              <a:rPr lang="en-US" sz="950" dirty="0">
                <a:solidFill>
                  <a:srgbClr val="222222"/>
                </a:solidFill>
                <a:latin typeface="Calibri" pitchFamily="34" charset="0"/>
                <a:ea typeface="Calibri" pitchFamily="34" charset="-122"/>
                <a:cs typeface="Calibri" pitchFamily="34" charset="-120"/>
              </a:rPr>
              <a:t>Net Margin: 15.1%   ·   ROA: 24.3%   ·   ROE: 34.5%</a:t>
            </a:r>
            <a:endParaRPr lang="en-US" sz="950" dirty="0"/>
          </a:p>
        </p:txBody>
      </p:sp>
      <p:sp>
        <p:nvSpPr>
          <p:cNvPr id="26" name="Text 24"/>
          <p:cNvSpPr/>
          <p:nvPr/>
        </p:nvSpPr>
        <p:spPr>
          <a:xfrm>
            <a:off x="6217920" y="5257800"/>
            <a:ext cx="2606040" cy="274320"/>
          </a:xfrm>
          <a:prstGeom prst="rect">
            <a:avLst/>
          </a:prstGeom>
          <a:noFill/>
          <a:ln/>
        </p:spPr>
        <p:txBody>
          <a:bodyPr wrap="square" rtlCol="0" anchor="ctr"/>
          <a:lstStyle/>
          <a:p>
            <a:pPr marL="0" indent="0">
              <a:buNone/>
            </a:pPr>
            <a:r>
              <a:rPr lang="en-US" sz="1000" b="1" kern="0" spc="100" dirty="0">
                <a:solidFill>
                  <a:srgbClr val="B8922A"/>
                </a:solidFill>
                <a:latin typeface="Calibri" pitchFamily="34" charset="0"/>
                <a:ea typeface="Calibri" pitchFamily="34" charset="-122"/>
                <a:cs typeface="Calibri" pitchFamily="34" charset="-120"/>
              </a:rPr>
              <a:t>LEVERAGE</a:t>
            </a:r>
            <a:endParaRPr lang="en-US" sz="1000" dirty="0"/>
          </a:p>
        </p:txBody>
      </p:sp>
      <p:sp>
        <p:nvSpPr>
          <p:cNvPr id="27" name="Text 25"/>
          <p:cNvSpPr/>
          <p:nvPr/>
        </p:nvSpPr>
        <p:spPr>
          <a:xfrm>
            <a:off x="6217920" y="5513832"/>
            <a:ext cx="2606040" cy="457200"/>
          </a:xfrm>
          <a:prstGeom prst="rect">
            <a:avLst/>
          </a:prstGeom>
          <a:noFill/>
          <a:ln/>
        </p:spPr>
        <p:txBody>
          <a:bodyPr wrap="square" rtlCol="0" anchor="ctr"/>
          <a:lstStyle/>
          <a:p>
            <a:pPr marL="0" indent="0">
              <a:buNone/>
            </a:pPr>
            <a:r>
              <a:rPr lang="en-US" sz="950" dirty="0">
                <a:solidFill>
                  <a:srgbClr val="222222"/>
                </a:solidFill>
                <a:latin typeface="Calibri" pitchFamily="34" charset="0"/>
                <a:ea typeface="Calibri" pitchFamily="34" charset="-122"/>
                <a:cs typeface="Calibri" pitchFamily="34" charset="-120"/>
              </a:rPr>
              <a:t>Debt/Equity: 0.42x   ·   Debt/Assets: 0.29x   ·   Int. Coverage: 18.90x</a:t>
            </a:r>
            <a:endParaRPr lang="en-US" sz="950" dirty="0"/>
          </a:p>
        </p:txBody>
      </p:sp>
      <p:sp>
        <p:nvSpPr>
          <p:cNvPr id="28" name="Text 26"/>
          <p:cNvSpPr/>
          <p:nvPr/>
        </p:nvSpPr>
        <p:spPr>
          <a:xfrm>
            <a:off x="9052560" y="5257800"/>
            <a:ext cx="2606040" cy="274320"/>
          </a:xfrm>
          <a:prstGeom prst="rect">
            <a:avLst/>
          </a:prstGeom>
          <a:noFill/>
          <a:ln/>
        </p:spPr>
        <p:txBody>
          <a:bodyPr wrap="square" rtlCol="0" anchor="ctr"/>
          <a:lstStyle/>
          <a:p>
            <a:pPr marL="0" indent="0">
              <a:buNone/>
            </a:pPr>
            <a:r>
              <a:rPr lang="en-US" sz="1000" b="1" kern="0" spc="100" dirty="0">
                <a:solidFill>
                  <a:srgbClr val="B8922A"/>
                </a:solidFill>
                <a:latin typeface="Calibri" pitchFamily="34" charset="0"/>
                <a:ea typeface="Calibri" pitchFamily="34" charset="-122"/>
                <a:cs typeface="Calibri" pitchFamily="34" charset="-120"/>
              </a:rPr>
              <a:t>EFFICIENCY</a:t>
            </a:r>
            <a:endParaRPr lang="en-US" sz="1000" dirty="0"/>
          </a:p>
        </p:txBody>
      </p:sp>
      <p:sp>
        <p:nvSpPr>
          <p:cNvPr id="29" name="Text 27"/>
          <p:cNvSpPr/>
          <p:nvPr/>
        </p:nvSpPr>
        <p:spPr>
          <a:xfrm>
            <a:off x="9052560" y="5513832"/>
            <a:ext cx="2606040" cy="457200"/>
          </a:xfrm>
          <a:prstGeom prst="rect">
            <a:avLst/>
          </a:prstGeom>
          <a:noFill/>
          <a:ln/>
        </p:spPr>
        <p:txBody>
          <a:bodyPr wrap="square" rtlCol="0" anchor="ctr"/>
          <a:lstStyle/>
          <a:p>
            <a:pPr marL="0" indent="0">
              <a:buNone/>
            </a:pPr>
            <a:r>
              <a:rPr lang="en-US" sz="950" dirty="0">
                <a:solidFill>
                  <a:srgbClr val="222222"/>
                </a:solidFill>
                <a:latin typeface="Calibri" pitchFamily="34" charset="0"/>
                <a:ea typeface="Calibri" pitchFamily="34" charset="-122"/>
                <a:cs typeface="Calibri" pitchFamily="34" charset="-120"/>
              </a:rPr>
              <a:t>Asset Turns: 1.61x   ·   Inv. Turns: 5.48x   ·   AR Turns: 10.83x</a:t>
            </a:r>
            <a:endParaRPr lang="en-US" sz="950" dirty="0"/>
          </a:p>
        </p:txBody>
      </p:sp>
      <p:sp>
        <p:nvSpPr>
          <p:cNvPr id="30" name="Text 28"/>
          <p:cNvSpPr/>
          <p:nvPr/>
        </p:nvSpPr>
        <p:spPr>
          <a:xfrm>
            <a:off x="11521440" y="6446520"/>
            <a:ext cx="457200" cy="274320"/>
          </a:xfrm>
          <a:prstGeom prst="rect">
            <a:avLst/>
          </a:prstGeom>
          <a:noFill/>
          <a:ln/>
        </p:spPr>
        <p:txBody>
          <a:bodyPr wrap="square"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2</a:t>
            </a:r>
            <a:endParaRPr lang="en-US" sz="1000" dirty="0"/>
          </a:p>
        </p:txBody>
      </p:sp>
      <p:sp>
        <p:nvSpPr>
          <p:cNvPr id="31" name="Text 29"/>
          <p:cNvSpPr/>
          <p:nvPr/>
        </p:nvSpPr>
        <p:spPr>
          <a:xfrm>
            <a:off x="548640" y="6446520"/>
            <a:ext cx="7315200" cy="274320"/>
          </a:xfrm>
          <a:prstGeom prst="rect">
            <a:avLst/>
          </a:prstGeom>
          <a:noFill/>
          <a:ln/>
        </p:spPr>
        <p:txBody>
          <a:bodyPr wrap="square" rtlCol="0" anchor="ctr"/>
          <a:lstStyle/>
          <a:p>
            <a:pPr marL="0" indent="0">
              <a:buNone/>
            </a:pPr>
            <a:r>
              <a:rPr lang="en-US" sz="1000" dirty="0">
                <a:solidFill>
                  <a:srgbClr val="5B6472"/>
                </a:solidFill>
                <a:latin typeface="Calibri" pitchFamily="34" charset="0"/>
                <a:ea typeface="Calibri" pitchFamily="34" charset="-122"/>
                <a:cs typeface="Calibri" pitchFamily="34" charset="-120"/>
              </a:rPr>
              <a:t>Meridian Retail Group  |  Financial Health Analysis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B8922A"/>
                </a:solidFill>
                <a:latin typeface="Calibri" pitchFamily="34" charset="0"/>
                <a:ea typeface="Calibri" pitchFamily="34" charset="-122"/>
                <a:cs typeface="Calibri" pitchFamily="34" charset="-120"/>
              </a:rPr>
              <a:t>APPROACH</a:t>
            </a:r>
            <a:endParaRPr lang="en-US" sz="1200" dirty="0"/>
          </a:p>
        </p:txBody>
      </p:sp>
      <p:sp>
        <p:nvSpPr>
          <p:cNvPr id="3" name="Text 1"/>
          <p:cNvSpPr/>
          <p:nvPr/>
        </p:nvSpPr>
        <p:spPr>
          <a:xfrm>
            <a:off x="548640" y="658368"/>
            <a:ext cx="11064240" cy="64008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How the dashboard was built</a:t>
            </a:r>
            <a:endParaRPr lang="en-US" sz="2800" dirty="0"/>
          </a:p>
        </p:txBody>
      </p:sp>
      <p:sp>
        <p:nvSpPr>
          <p:cNvPr id="4" name="Shape 2"/>
          <p:cNvSpPr/>
          <p:nvPr/>
        </p:nvSpPr>
        <p:spPr>
          <a:xfrm>
            <a:off x="548640" y="1554480"/>
            <a:ext cx="5349240" cy="1143000"/>
          </a:xfrm>
          <a:prstGeom prst="rect">
            <a:avLst/>
          </a:prstGeom>
          <a:solidFill>
            <a:srgbClr val="F4F6FB"/>
          </a:solidFill>
          <a:ln w="12700">
            <a:solidFill>
              <a:srgbClr val="D9DEE8"/>
            </a:solidFill>
            <a:prstDash val="solid"/>
          </a:ln>
        </p:spPr>
      </p:sp>
      <p:sp>
        <p:nvSpPr>
          <p:cNvPr id="5" name="Text 3"/>
          <p:cNvSpPr/>
          <p:nvPr/>
        </p:nvSpPr>
        <p:spPr>
          <a:xfrm>
            <a:off x="777240" y="1682496"/>
            <a:ext cx="4892040" cy="32004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1. Source the statements</a:t>
            </a:r>
            <a:endParaRPr lang="en-US" sz="1500" dirty="0"/>
          </a:p>
        </p:txBody>
      </p:sp>
      <p:sp>
        <p:nvSpPr>
          <p:cNvPr id="6" name="Text 4"/>
          <p:cNvSpPr/>
          <p:nvPr/>
        </p:nvSpPr>
        <p:spPr>
          <a:xfrm>
            <a:off x="777240" y="2011680"/>
            <a:ext cx="4892040" cy="594360"/>
          </a:xfrm>
          <a:prstGeom prst="rect">
            <a:avLst/>
          </a:prstGeom>
          <a:noFill/>
          <a:ln/>
        </p:spPr>
        <p:txBody>
          <a:bodyPr wrap="square" rtlCol="0" anchor="ctr"/>
          <a:lstStyle/>
          <a:p>
            <a:pPr marL="0" indent="0">
              <a:lnSpc>
                <a:spcPct val="120000"/>
              </a:lnSpc>
              <a:buNone/>
            </a:pPr>
            <a:r>
              <a:rPr lang="en-US" sz="1150" dirty="0">
                <a:solidFill>
                  <a:srgbClr val="222222"/>
                </a:solidFill>
                <a:latin typeface="Calibri" pitchFamily="34" charset="0"/>
                <a:ea typeface="Calibri" pitchFamily="34" charset="-122"/>
                <a:cs typeface="Calibri" pitchFamily="34" charset="-120"/>
              </a:rPr>
              <a:t>Five years of income-statement and balance-sheet line items were consolidated into a single Raw Data tab, with every hardcoded input marked in blue.</a:t>
            </a:r>
            <a:endParaRPr lang="en-US" sz="1150" dirty="0"/>
          </a:p>
        </p:txBody>
      </p:sp>
      <p:sp>
        <p:nvSpPr>
          <p:cNvPr id="7" name="Shape 5"/>
          <p:cNvSpPr/>
          <p:nvPr/>
        </p:nvSpPr>
        <p:spPr>
          <a:xfrm>
            <a:off x="6263640" y="1554480"/>
            <a:ext cx="5349240" cy="1143000"/>
          </a:xfrm>
          <a:prstGeom prst="rect">
            <a:avLst/>
          </a:prstGeom>
          <a:solidFill>
            <a:srgbClr val="F4F6FB"/>
          </a:solidFill>
          <a:ln w="12700">
            <a:solidFill>
              <a:srgbClr val="D9DEE8"/>
            </a:solidFill>
            <a:prstDash val="solid"/>
          </a:ln>
        </p:spPr>
      </p:sp>
      <p:sp>
        <p:nvSpPr>
          <p:cNvPr id="8" name="Text 6"/>
          <p:cNvSpPr/>
          <p:nvPr/>
        </p:nvSpPr>
        <p:spPr>
          <a:xfrm>
            <a:off x="6492240" y="1682496"/>
            <a:ext cx="4892040" cy="32004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2. Calculate the ratios</a:t>
            </a:r>
            <a:endParaRPr lang="en-US" sz="1500" dirty="0"/>
          </a:p>
        </p:txBody>
      </p:sp>
      <p:sp>
        <p:nvSpPr>
          <p:cNvPr id="9" name="Text 7"/>
          <p:cNvSpPr/>
          <p:nvPr/>
        </p:nvSpPr>
        <p:spPr>
          <a:xfrm>
            <a:off x="6492240" y="2011680"/>
            <a:ext cx="4892040" cy="594360"/>
          </a:xfrm>
          <a:prstGeom prst="rect">
            <a:avLst/>
          </a:prstGeom>
          <a:noFill/>
          <a:ln/>
        </p:spPr>
        <p:txBody>
          <a:bodyPr wrap="square" rtlCol="0" anchor="ctr"/>
          <a:lstStyle/>
          <a:p>
            <a:pPr marL="0" indent="0">
              <a:lnSpc>
                <a:spcPct val="120000"/>
              </a:lnSpc>
              <a:buNone/>
            </a:pPr>
            <a:r>
              <a:rPr lang="en-US" sz="1150" dirty="0">
                <a:solidFill>
                  <a:srgbClr val="222222"/>
                </a:solidFill>
                <a:latin typeface="Calibri" pitchFamily="34" charset="0"/>
                <a:ea typeface="Calibri" pitchFamily="34" charset="-122"/>
                <a:cs typeface="Calibri" pitchFamily="34" charset="-120"/>
              </a:rPr>
              <a:t>Fourteen ratios across four categories are computed with two-way INDEX-MATCH formulas that pull the correct line item and year automatically — no hardcoded results.</a:t>
            </a:r>
            <a:endParaRPr lang="en-US" sz="1150" dirty="0"/>
          </a:p>
        </p:txBody>
      </p:sp>
      <p:sp>
        <p:nvSpPr>
          <p:cNvPr id="10" name="Shape 8"/>
          <p:cNvSpPr/>
          <p:nvPr/>
        </p:nvSpPr>
        <p:spPr>
          <a:xfrm>
            <a:off x="548640" y="3017520"/>
            <a:ext cx="5349240" cy="1143000"/>
          </a:xfrm>
          <a:prstGeom prst="rect">
            <a:avLst/>
          </a:prstGeom>
          <a:solidFill>
            <a:srgbClr val="F4F6FB"/>
          </a:solidFill>
          <a:ln w="12700">
            <a:solidFill>
              <a:srgbClr val="D9DEE8"/>
            </a:solidFill>
            <a:prstDash val="solid"/>
          </a:ln>
        </p:spPr>
      </p:sp>
      <p:sp>
        <p:nvSpPr>
          <p:cNvPr id="11" name="Text 9"/>
          <p:cNvSpPr/>
          <p:nvPr/>
        </p:nvSpPr>
        <p:spPr>
          <a:xfrm>
            <a:off x="777240" y="3145536"/>
            <a:ext cx="4892040" cy="32004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3. Benchmark &amp; rate</a:t>
            </a:r>
            <a:endParaRPr lang="en-US" sz="1500" dirty="0"/>
          </a:p>
        </p:txBody>
      </p:sp>
      <p:sp>
        <p:nvSpPr>
          <p:cNvPr id="12" name="Text 10"/>
          <p:cNvSpPr/>
          <p:nvPr/>
        </p:nvSpPr>
        <p:spPr>
          <a:xfrm>
            <a:off x="777240" y="3474720"/>
            <a:ext cx="4892040" cy="594360"/>
          </a:xfrm>
          <a:prstGeom prst="rect">
            <a:avLst/>
          </a:prstGeom>
          <a:noFill/>
          <a:ln/>
        </p:spPr>
        <p:txBody>
          <a:bodyPr wrap="square" rtlCol="0" anchor="ctr"/>
          <a:lstStyle/>
          <a:p>
            <a:pPr marL="0" indent="0">
              <a:lnSpc>
                <a:spcPct val="120000"/>
              </a:lnSpc>
              <a:buNone/>
            </a:pPr>
            <a:r>
              <a:rPr lang="en-US" sz="1150" dirty="0">
                <a:solidFill>
                  <a:srgbClr val="222222"/>
                </a:solidFill>
                <a:latin typeface="Calibri" pitchFamily="34" charset="0"/>
                <a:ea typeface="Calibri" pitchFamily="34" charset="-122"/>
                <a:cs typeface="Calibri" pitchFamily="34" charset="-120"/>
              </a:rPr>
              <a:t>Each ratio is compared to a benchmark table with VLOOKUP, and a nested IF formula assigns a Strong / Moderate / Weak rating based on the direction that is favorable for that ratio.</a:t>
            </a:r>
            <a:endParaRPr lang="en-US" sz="1150" dirty="0"/>
          </a:p>
        </p:txBody>
      </p:sp>
      <p:sp>
        <p:nvSpPr>
          <p:cNvPr id="13" name="Shape 11"/>
          <p:cNvSpPr/>
          <p:nvPr/>
        </p:nvSpPr>
        <p:spPr>
          <a:xfrm>
            <a:off x="6263640" y="3017520"/>
            <a:ext cx="5349240" cy="1143000"/>
          </a:xfrm>
          <a:prstGeom prst="rect">
            <a:avLst/>
          </a:prstGeom>
          <a:solidFill>
            <a:srgbClr val="F4F6FB"/>
          </a:solidFill>
          <a:ln w="12700">
            <a:solidFill>
              <a:srgbClr val="D9DEE8"/>
            </a:solidFill>
            <a:prstDash val="solid"/>
          </a:ln>
        </p:spPr>
      </p:sp>
      <p:sp>
        <p:nvSpPr>
          <p:cNvPr id="14" name="Text 12"/>
          <p:cNvSpPr/>
          <p:nvPr/>
        </p:nvSpPr>
        <p:spPr>
          <a:xfrm>
            <a:off x="6492240" y="3145536"/>
            <a:ext cx="4892040" cy="32004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4. Visualize the trend</a:t>
            </a:r>
            <a:endParaRPr lang="en-US" sz="1500" dirty="0"/>
          </a:p>
        </p:txBody>
      </p:sp>
      <p:sp>
        <p:nvSpPr>
          <p:cNvPr id="15" name="Text 13"/>
          <p:cNvSpPr/>
          <p:nvPr/>
        </p:nvSpPr>
        <p:spPr>
          <a:xfrm>
            <a:off x="6492240" y="3474720"/>
            <a:ext cx="4892040" cy="594360"/>
          </a:xfrm>
          <a:prstGeom prst="rect">
            <a:avLst/>
          </a:prstGeom>
          <a:noFill/>
          <a:ln/>
        </p:spPr>
        <p:txBody>
          <a:bodyPr wrap="square" rtlCol="0" anchor="ctr"/>
          <a:lstStyle/>
          <a:p>
            <a:pPr marL="0" indent="0">
              <a:lnSpc>
                <a:spcPct val="120000"/>
              </a:lnSpc>
              <a:buNone/>
            </a:pPr>
            <a:r>
              <a:rPr lang="en-US" sz="1150" dirty="0">
                <a:solidFill>
                  <a:srgbClr val="222222"/>
                </a:solidFill>
                <a:latin typeface="Calibri" pitchFamily="34" charset="0"/>
                <a:ea typeface="Calibri" pitchFamily="34" charset="-122"/>
                <a:cs typeface="Calibri" pitchFamily="34" charset="-120"/>
              </a:rPr>
              <a:t>Native Excel charts plot five-year trends by category, and the Dashboard tab summarizes the most recent year in KPI cards.</a:t>
            </a:r>
            <a:endParaRPr lang="en-US" sz="1150" dirty="0"/>
          </a:p>
        </p:txBody>
      </p:sp>
      <p:sp>
        <p:nvSpPr>
          <p:cNvPr id="16" name="Text 14"/>
          <p:cNvSpPr/>
          <p:nvPr/>
        </p:nvSpPr>
        <p:spPr>
          <a:xfrm>
            <a:off x="548640" y="5806440"/>
            <a:ext cx="1280160" cy="320040"/>
          </a:xfrm>
          <a:prstGeom prst="rect">
            <a:avLst/>
          </a:prstGeom>
          <a:noFill/>
          <a:ln/>
        </p:spPr>
        <p:txBody>
          <a:bodyPr wrap="square" rtlCol="0" anchor="ctr"/>
          <a:lstStyle/>
          <a:p>
            <a:pPr marL="0" indent="0">
              <a:buNone/>
            </a:pPr>
            <a:r>
              <a:rPr lang="en-US" sz="1200" b="1" dirty="0">
                <a:solidFill>
                  <a:srgbClr val="5B6472"/>
                </a:solidFill>
                <a:latin typeface="Calibri" pitchFamily="34" charset="0"/>
                <a:ea typeface="Calibri" pitchFamily="34" charset="-122"/>
                <a:cs typeface="Calibri" pitchFamily="34" charset="-120"/>
              </a:rPr>
              <a:t>Tools used:</a:t>
            </a:r>
            <a:endParaRPr lang="en-US" sz="1200" dirty="0"/>
          </a:p>
        </p:txBody>
      </p:sp>
      <p:sp>
        <p:nvSpPr>
          <p:cNvPr id="17" name="Text 15"/>
          <p:cNvSpPr/>
          <p:nvPr/>
        </p:nvSpPr>
        <p:spPr>
          <a:xfrm>
            <a:off x="1783080" y="5806440"/>
            <a:ext cx="9784080" cy="320040"/>
          </a:xfrm>
          <a:prstGeom prst="rect">
            <a:avLst/>
          </a:prstGeom>
          <a:noFill/>
          <a:ln/>
        </p:spPr>
        <p:txBody>
          <a:bodyPr wrap="square" rtlCol="0" anchor="ctr"/>
          <a:lstStyle/>
          <a:p>
            <a:pPr marL="0" indent="0">
              <a:buNone/>
            </a:pPr>
            <a:r>
              <a:rPr lang="en-US" sz="1200" dirty="0">
                <a:solidFill>
                  <a:srgbClr val="222222"/>
                </a:solidFill>
                <a:latin typeface="Calibri" pitchFamily="34" charset="0"/>
                <a:ea typeface="Calibri" pitchFamily="34" charset="-122"/>
                <a:cs typeface="Calibri" pitchFamily="34" charset="-120"/>
              </a:rPr>
              <a:t>Microsoft Excel (VLOOKUP, INDEX-MATCH, nested IF, conditional formatting, native charts)  ·  PowerPoint for the summary deck</a:t>
            </a:r>
            <a:endParaRPr lang="en-US" sz="1200" dirty="0"/>
          </a:p>
        </p:txBody>
      </p:sp>
      <p:sp>
        <p:nvSpPr>
          <p:cNvPr id="18" name="Text 16"/>
          <p:cNvSpPr/>
          <p:nvPr/>
        </p:nvSpPr>
        <p:spPr>
          <a:xfrm>
            <a:off x="11521440" y="6446520"/>
            <a:ext cx="457200" cy="274320"/>
          </a:xfrm>
          <a:prstGeom prst="rect">
            <a:avLst/>
          </a:prstGeom>
          <a:noFill/>
          <a:ln/>
        </p:spPr>
        <p:txBody>
          <a:bodyPr wrap="square"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3</a:t>
            </a:r>
            <a:endParaRPr lang="en-US" sz="1000" dirty="0"/>
          </a:p>
        </p:txBody>
      </p:sp>
      <p:sp>
        <p:nvSpPr>
          <p:cNvPr id="19" name="Text 17"/>
          <p:cNvSpPr/>
          <p:nvPr/>
        </p:nvSpPr>
        <p:spPr>
          <a:xfrm>
            <a:off x="548640" y="6446520"/>
            <a:ext cx="7315200" cy="274320"/>
          </a:xfrm>
          <a:prstGeom prst="rect">
            <a:avLst/>
          </a:prstGeom>
          <a:noFill/>
          <a:ln/>
        </p:spPr>
        <p:txBody>
          <a:bodyPr wrap="square" rtlCol="0" anchor="ctr"/>
          <a:lstStyle/>
          <a:p>
            <a:pPr marL="0" indent="0">
              <a:buNone/>
            </a:pPr>
            <a:r>
              <a:rPr lang="en-US" sz="1000" dirty="0">
                <a:solidFill>
                  <a:srgbClr val="5B6472"/>
                </a:solidFill>
                <a:latin typeface="Calibri" pitchFamily="34" charset="0"/>
                <a:ea typeface="Calibri" pitchFamily="34" charset="-122"/>
                <a:cs typeface="Calibri" pitchFamily="34" charset="-120"/>
              </a:rPr>
              <a:t>Meridian Retail Group  |  Financial Health Analysis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B8922A"/>
                </a:solidFill>
                <a:latin typeface="Calibri" pitchFamily="34" charset="0"/>
                <a:ea typeface="Calibri" pitchFamily="34" charset="-122"/>
                <a:cs typeface="Calibri" pitchFamily="34" charset="-120"/>
              </a:rPr>
              <a:t>LIQUIDITY</a:t>
            </a:r>
            <a:endParaRPr lang="en-US" sz="1200" dirty="0"/>
          </a:p>
        </p:txBody>
      </p:sp>
      <p:sp>
        <p:nvSpPr>
          <p:cNvPr id="3" name="Text 1"/>
          <p:cNvSpPr/>
          <p:nvPr/>
        </p:nvSpPr>
        <p:spPr>
          <a:xfrm>
            <a:off x="548640" y="658368"/>
            <a:ext cx="11064240" cy="64008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The company can comfortably cover short-term obligations</a:t>
            </a:r>
            <a:endParaRPr lang="en-US" sz="2800" dirty="0"/>
          </a:p>
        </p:txBody>
      </p:sp>
      <p:graphicFrame>
        <p:nvGraphicFramePr>
          <p:cNvPr id="4" name="Chart 0"/>
          <p:cNvGraphicFramePr/>
          <p:nvPr/>
        </p:nvGraphicFramePr>
        <p:xfrm>
          <a:off x="548640" y="1508760"/>
          <a:ext cx="7040880" cy="44348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818120" y="1508760"/>
            <a:ext cx="3794760" cy="4434840"/>
          </a:xfrm>
          <a:prstGeom prst="rect">
            <a:avLst/>
          </a:prstGeom>
          <a:solidFill>
            <a:srgbClr val="F4F6FB"/>
          </a:solidFill>
          <a:ln w="12700">
            <a:solidFill>
              <a:srgbClr val="D9DEE8"/>
            </a:solidFill>
            <a:prstDash val="solid"/>
          </a:ln>
        </p:spPr>
      </p:sp>
      <p:sp>
        <p:nvSpPr>
          <p:cNvPr id="6" name="Text 3"/>
          <p:cNvSpPr/>
          <p:nvPr/>
        </p:nvSpPr>
        <p:spPr>
          <a:xfrm>
            <a:off x="8092440" y="1783080"/>
            <a:ext cx="3246120" cy="274320"/>
          </a:xfrm>
          <a:prstGeom prst="rect">
            <a:avLst/>
          </a:prstGeom>
          <a:noFill/>
          <a:ln/>
        </p:spPr>
        <p:txBody>
          <a:bodyPr wrap="square" rtlCol="0" anchor="ctr"/>
          <a:lstStyle/>
          <a:p>
            <a:pPr marL="0" indent="0">
              <a:buNone/>
            </a:pPr>
            <a:r>
              <a:rPr lang="en-US" sz="1050" b="1" kern="0" spc="100" dirty="0">
                <a:solidFill>
                  <a:srgbClr val="B8922A"/>
                </a:solidFill>
                <a:latin typeface="Calibri" pitchFamily="34" charset="0"/>
                <a:ea typeface="Calibri" pitchFamily="34" charset="-122"/>
                <a:cs typeface="Calibri" pitchFamily="34" charset="-120"/>
              </a:rPr>
              <a:t>WHAT THE TREND SHOWS</a:t>
            </a:r>
            <a:endParaRPr lang="en-US" sz="1050" dirty="0"/>
          </a:p>
        </p:txBody>
      </p:sp>
      <p:sp>
        <p:nvSpPr>
          <p:cNvPr id="7" name="Text 4"/>
          <p:cNvSpPr/>
          <p:nvPr/>
        </p:nvSpPr>
        <p:spPr>
          <a:xfrm>
            <a:off x="8092440" y="2103120"/>
            <a:ext cx="3246120" cy="3657600"/>
          </a:xfrm>
          <a:prstGeom prst="rect">
            <a:avLst/>
          </a:prstGeom>
          <a:noFill/>
          <a:ln/>
        </p:spPr>
        <p:txBody>
          <a:bodyPr wrap="square" rtlCol="0" anchor="ctr"/>
          <a:lstStyle/>
          <a:p>
            <a:pPr marL="0" indent="0">
              <a:lnSpc>
                <a:spcPct val="130000"/>
              </a:lnSpc>
              <a:buNone/>
            </a:pPr>
            <a:r>
              <a:rPr lang="en-US" sz="1200" dirty="0">
                <a:solidFill>
                  <a:srgbClr val="222222"/>
                </a:solidFill>
                <a:latin typeface="Calibri" pitchFamily="34" charset="0"/>
                <a:ea typeface="Calibri" pitchFamily="34" charset="-122"/>
                <a:cs typeface="Calibri" pitchFamily="34" charset="-120"/>
              </a:rPr>
              <a:t>The current ratio rose from 2.31x to 3.38x and the cash ratio more than doubled, from 0.50x to 1.05x. Current assets are growing faster than current liabilities every year, driven by stronger cash generation and disciplined payables management.</a:t>
            </a:r>
            <a:endParaRPr lang="en-US" sz="1200" dirty="0"/>
          </a:p>
          <a:p>
            <a:pPr marL="0" indent="0">
              <a:lnSpc>
                <a:spcPct val="130000"/>
              </a:lnSpc>
              <a:buNone/>
            </a:pPr>
            <a:endParaRPr lang="en-US" sz="1200" dirty="0"/>
          </a:p>
          <a:p>
            <a:pPr marL="0" indent="0">
              <a:lnSpc>
                <a:spcPct val="130000"/>
              </a:lnSpc>
              <a:buNone/>
            </a:pPr>
            <a:r>
              <a:rPr lang="en-US" sz="1200" dirty="0">
                <a:solidFill>
                  <a:srgbClr val="222222"/>
                </a:solidFill>
                <a:latin typeface="Calibri" pitchFamily="34" charset="0"/>
                <a:ea typeface="Calibri" pitchFamily="34" charset="-122"/>
                <a:cs typeface="Calibri" pitchFamily="34" charset="-120"/>
              </a:rPr>
              <a:t>All three liquidity ratios rate “Strong” against benchmark in FY2024.</a:t>
            </a:r>
            <a:endParaRPr lang="en-US" sz="1200" dirty="0"/>
          </a:p>
        </p:txBody>
      </p:sp>
      <p:sp>
        <p:nvSpPr>
          <p:cNvPr id="8" name="Text 5"/>
          <p:cNvSpPr/>
          <p:nvPr/>
        </p:nvSpPr>
        <p:spPr>
          <a:xfrm>
            <a:off x="11521440" y="6446520"/>
            <a:ext cx="457200" cy="274320"/>
          </a:xfrm>
          <a:prstGeom prst="rect">
            <a:avLst/>
          </a:prstGeom>
          <a:noFill/>
          <a:ln/>
        </p:spPr>
        <p:txBody>
          <a:bodyPr wrap="square"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4</a:t>
            </a:r>
            <a:endParaRPr lang="en-US" sz="1000" dirty="0"/>
          </a:p>
        </p:txBody>
      </p:sp>
      <p:sp>
        <p:nvSpPr>
          <p:cNvPr id="9" name="Text 6"/>
          <p:cNvSpPr/>
          <p:nvPr/>
        </p:nvSpPr>
        <p:spPr>
          <a:xfrm>
            <a:off x="548640" y="6446520"/>
            <a:ext cx="7315200" cy="274320"/>
          </a:xfrm>
          <a:prstGeom prst="rect">
            <a:avLst/>
          </a:prstGeom>
          <a:noFill/>
          <a:ln/>
        </p:spPr>
        <p:txBody>
          <a:bodyPr wrap="square" rtlCol="0" anchor="ctr"/>
          <a:lstStyle/>
          <a:p>
            <a:pPr marL="0" indent="0">
              <a:buNone/>
            </a:pPr>
            <a:r>
              <a:rPr lang="en-US" sz="1000" dirty="0">
                <a:solidFill>
                  <a:srgbClr val="5B6472"/>
                </a:solidFill>
                <a:latin typeface="Calibri" pitchFamily="34" charset="0"/>
                <a:ea typeface="Calibri" pitchFamily="34" charset="-122"/>
                <a:cs typeface="Calibri" pitchFamily="34" charset="-120"/>
              </a:rPr>
              <a:t>Meridian Retail Group  |  Financial Health Analysis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B8922A"/>
                </a:solidFill>
                <a:latin typeface="Calibri" pitchFamily="34" charset="0"/>
                <a:ea typeface="Calibri" pitchFamily="34" charset="-122"/>
                <a:cs typeface="Calibri" pitchFamily="34" charset="-120"/>
              </a:rPr>
              <a:t>PROFITABILITY</a:t>
            </a:r>
            <a:endParaRPr lang="en-US" sz="1200" dirty="0"/>
          </a:p>
        </p:txBody>
      </p:sp>
      <p:sp>
        <p:nvSpPr>
          <p:cNvPr id="3" name="Text 1"/>
          <p:cNvSpPr/>
          <p:nvPr/>
        </p:nvSpPr>
        <p:spPr>
          <a:xfrm>
            <a:off x="548640" y="658368"/>
            <a:ext cx="11064240" cy="64008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Margins expanded at every level of the income statement</a:t>
            </a:r>
            <a:endParaRPr lang="en-US" sz="2800" dirty="0"/>
          </a:p>
        </p:txBody>
      </p:sp>
      <p:graphicFrame>
        <p:nvGraphicFramePr>
          <p:cNvPr id="4" name="Chart 0"/>
          <p:cNvGraphicFramePr/>
          <p:nvPr/>
        </p:nvGraphicFramePr>
        <p:xfrm>
          <a:off x="548640" y="1508760"/>
          <a:ext cx="7040880" cy="44348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818120" y="1508760"/>
            <a:ext cx="3794760" cy="4434840"/>
          </a:xfrm>
          <a:prstGeom prst="rect">
            <a:avLst/>
          </a:prstGeom>
          <a:solidFill>
            <a:srgbClr val="F4F6FB"/>
          </a:solidFill>
          <a:ln w="12700">
            <a:solidFill>
              <a:srgbClr val="D9DEE8"/>
            </a:solidFill>
            <a:prstDash val="solid"/>
          </a:ln>
        </p:spPr>
      </p:sp>
      <p:sp>
        <p:nvSpPr>
          <p:cNvPr id="6" name="Text 3"/>
          <p:cNvSpPr/>
          <p:nvPr/>
        </p:nvSpPr>
        <p:spPr>
          <a:xfrm>
            <a:off x="8092440" y="1783080"/>
            <a:ext cx="3246120" cy="274320"/>
          </a:xfrm>
          <a:prstGeom prst="rect">
            <a:avLst/>
          </a:prstGeom>
          <a:noFill/>
          <a:ln/>
        </p:spPr>
        <p:txBody>
          <a:bodyPr wrap="square" rtlCol="0" anchor="ctr"/>
          <a:lstStyle/>
          <a:p>
            <a:pPr marL="0" indent="0">
              <a:buNone/>
            </a:pPr>
            <a:r>
              <a:rPr lang="en-US" sz="1050" b="1" kern="0" spc="100" dirty="0">
                <a:solidFill>
                  <a:srgbClr val="B8922A"/>
                </a:solidFill>
                <a:latin typeface="Calibri" pitchFamily="34" charset="0"/>
                <a:ea typeface="Calibri" pitchFamily="34" charset="-122"/>
                <a:cs typeface="Calibri" pitchFamily="34" charset="-120"/>
              </a:rPr>
              <a:t>WHAT THE TREND SHOWS</a:t>
            </a:r>
            <a:endParaRPr lang="en-US" sz="1050" dirty="0"/>
          </a:p>
        </p:txBody>
      </p:sp>
      <p:sp>
        <p:nvSpPr>
          <p:cNvPr id="7" name="Text 4"/>
          <p:cNvSpPr/>
          <p:nvPr/>
        </p:nvSpPr>
        <p:spPr>
          <a:xfrm>
            <a:off x="8092440" y="2103120"/>
            <a:ext cx="3246120" cy="3657600"/>
          </a:xfrm>
          <a:prstGeom prst="rect">
            <a:avLst/>
          </a:prstGeom>
          <a:noFill/>
          <a:ln/>
        </p:spPr>
        <p:txBody>
          <a:bodyPr wrap="square" rtlCol="0" anchor="ctr"/>
          <a:lstStyle/>
          <a:p>
            <a:pPr marL="0" indent="0">
              <a:lnSpc>
                <a:spcPct val="130000"/>
              </a:lnSpc>
              <a:buNone/>
            </a:pPr>
            <a:r>
              <a:rPr lang="en-US" sz="1200" dirty="0">
                <a:solidFill>
                  <a:srgbClr val="222222"/>
                </a:solidFill>
                <a:latin typeface="Calibri" pitchFamily="34" charset="0"/>
                <a:ea typeface="Calibri" pitchFamily="34" charset="-122"/>
                <a:cs typeface="Calibri" pitchFamily="34" charset="-120"/>
              </a:rPr>
              <a:t>Net profit margin nearly doubled, from 9.3% to 15.1%, as gross margin gained roughly 260 basis points and operating expenses grew slower than revenue. Return on equity climbed from 25.2% to 34.5%, showing that profitability gains are translating directly into shareholder returns.</a:t>
            </a:r>
            <a:endParaRPr lang="en-US" sz="1200" dirty="0"/>
          </a:p>
          <a:p>
            <a:pPr marL="0" indent="0">
              <a:lnSpc>
                <a:spcPct val="130000"/>
              </a:lnSpc>
              <a:buNone/>
            </a:pPr>
            <a:endParaRPr lang="en-US" sz="1200" dirty="0"/>
          </a:p>
          <a:p>
            <a:pPr marL="0" indent="0">
              <a:lnSpc>
                <a:spcPct val="130000"/>
              </a:lnSpc>
              <a:buNone/>
            </a:pPr>
            <a:r>
              <a:rPr lang="en-US" sz="1200" dirty="0">
                <a:solidFill>
                  <a:srgbClr val="222222"/>
                </a:solidFill>
                <a:latin typeface="Calibri" pitchFamily="34" charset="0"/>
                <a:ea typeface="Calibri" pitchFamily="34" charset="-122"/>
                <a:cs typeface="Calibri" pitchFamily="34" charset="-120"/>
              </a:rPr>
              <a:t>All five profitability ratios rate “Strong.”</a:t>
            </a:r>
            <a:endParaRPr lang="en-US" sz="1200" dirty="0"/>
          </a:p>
        </p:txBody>
      </p:sp>
      <p:sp>
        <p:nvSpPr>
          <p:cNvPr id="8" name="Text 5"/>
          <p:cNvSpPr/>
          <p:nvPr/>
        </p:nvSpPr>
        <p:spPr>
          <a:xfrm>
            <a:off x="11521440" y="6446520"/>
            <a:ext cx="457200" cy="274320"/>
          </a:xfrm>
          <a:prstGeom prst="rect">
            <a:avLst/>
          </a:prstGeom>
          <a:noFill/>
          <a:ln/>
        </p:spPr>
        <p:txBody>
          <a:bodyPr wrap="square"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5</a:t>
            </a:r>
            <a:endParaRPr lang="en-US" sz="1000" dirty="0"/>
          </a:p>
        </p:txBody>
      </p:sp>
      <p:sp>
        <p:nvSpPr>
          <p:cNvPr id="9" name="Text 6"/>
          <p:cNvSpPr/>
          <p:nvPr/>
        </p:nvSpPr>
        <p:spPr>
          <a:xfrm>
            <a:off x="548640" y="6446520"/>
            <a:ext cx="7315200" cy="274320"/>
          </a:xfrm>
          <a:prstGeom prst="rect">
            <a:avLst/>
          </a:prstGeom>
          <a:noFill/>
          <a:ln/>
        </p:spPr>
        <p:txBody>
          <a:bodyPr wrap="square" rtlCol="0" anchor="ctr"/>
          <a:lstStyle/>
          <a:p>
            <a:pPr marL="0" indent="0">
              <a:buNone/>
            </a:pPr>
            <a:r>
              <a:rPr lang="en-US" sz="1000" dirty="0">
                <a:solidFill>
                  <a:srgbClr val="5B6472"/>
                </a:solidFill>
                <a:latin typeface="Calibri" pitchFamily="34" charset="0"/>
                <a:ea typeface="Calibri" pitchFamily="34" charset="-122"/>
                <a:cs typeface="Calibri" pitchFamily="34" charset="-120"/>
              </a:rPr>
              <a:t>Meridian Retail Group  |  Financial Health Analysis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B8922A"/>
                </a:solidFill>
                <a:latin typeface="Calibri" pitchFamily="34" charset="0"/>
                <a:ea typeface="Calibri" pitchFamily="34" charset="-122"/>
                <a:cs typeface="Calibri" pitchFamily="34" charset="-120"/>
              </a:rPr>
              <a:t>LEVERAGE</a:t>
            </a:r>
            <a:endParaRPr lang="en-US" sz="1200" dirty="0"/>
          </a:p>
        </p:txBody>
      </p:sp>
      <p:sp>
        <p:nvSpPr>
          <p:cNvPr id="3" name="Text 1"/>
          <p:cNvSpPr/>
          <p:nvPr/>
        </p:nvSpPr>
        <p:spPr>
          <a:xfrm>
            <a:off x="548640" y="658368"/>
            <a:ext cx="11064240" cy="64008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The balance sheet has de-risked steadily since FY2020</a:t>
            </a:r>
            <a:endParaRPr lang="en-US" sz="2800" dirty="0"/>
          </a:p>
        </p:txBody>
      </p:sp>
      <p:graphicFrame>
        <p:nvGraphicFramePr>
          <p:cNvPr id="4" name="Chart 0"/>
          <p:cNvGraphicFramePr/>
          <p:nvPr/>
        </p:nvGraphicFramePr>
        <p:xfrm>
          <a:off x="548640" y="1508760"/>
          <a:ext cx="7040880" cy="44348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818120" y="1508760"/>
            <a:ext cx="3794760" cy="4434840"/>
          </a:xfrm>
          <a:prstGeom prst="rect">
            <a:avLst/>
          </a:prstGeom>
          <a:solidFill>
            <a:srgbClr val="F4F6FB"/>
          </a:solidFill>
          <a:ln w="12700">
            <a:solidFill>
              <a:srgbClr val="D9DEE8"/>
            </a:solidFill>
            <a:prstDash val="solid"/>
          </a:ln>
        </p:spPr>
      </p:sp>
      <p:sp>
        <p:nvSpPr>
          <p:cNvPr id="6" name="Text 3"/>
          <p:cNvSpPr/>
          <p:nvPr/>
        </p:nvSpPr>
        <p:spPr>
          <a:xfrm>
            <a:off x="8092440" y="1783080"/>
            <a:ext cx="3246120" cy="274320"/>
          </a:xfrm>
          <a:prstGeom prst="rect">
            <a:avLst/>
          </a:prstGeom>
          <a:noFill/>
          <a:ln/>
        </p:spPr>
        <p:txBody>
          <a:bodyPr wrap="square" rtlCol="0" anchor="ctr"/>
          <a:lstStyle/>
          <a:p>
            <a:pPr marL="0" indent="0">
              <a:buNone/>
            </a:pPr>
            <a:r>
              <a:rPr lang="en-US" sz="1050" b="1" kern="0" spc="100" dirty="0">
                <a:solidFill>
                  <a:srgbClr val="B8922A"/>
                </a:solidFill>
                <a:latin typeface="Calibri" pitchFamily="34" charset="0"/>
                <a:ea typeface="Calibri" pitchFamily="34" charset="-122"/>
                <a:cs typeface="Calibri" pitchFamily="34" charset="-120"/>
              </a:rPr>
              <a:t>WHAT THE TREND SHOWS</a:t>
            </a:r>
            <a:endParaRPr lang="en-US" sz="1050" dirty="0"/>
          </a:p>
        </p:txBody>
      </p:sp>
      <p:sp>
        <p:nvSpPr>
          <p:cNvPr id="7" name="Text 4"/>
          <p:cNvSpPr/>
          <p:nvPr/>
        </p:nvSpPr>
        <p:spPr>
          <a:xfrm>
            <a:off x="8092440" y="2103120"/>
            <a:ext cx="3246120" cy="3657600"/>
          </a:xfrm>
          <a:prstGeom prst="rect">
            <a:avLst/>
          </a:prstGeom>
          <a:noFill/>
          <a:ln/>
        </p:spPr>
        <p:txBody>
          <a:bodyPr wrap="square" rtlCol="0" anchor="ctr"/>
          <a:lstStyle/>
          <a:p>
            <a:pPr marL="0" indent="0">
              <a:lnSpc>
                <a:spcPct val="130000"/>
              </a:lnSpc>
              <a:buNone/>
            </a:pPr>
            <a:r>
              <a:rPr lang="en-US" sz="1200" dirty="0">
                <a:solidFill>
                  <a:srgbClr val="222222"/>
                </a:solidFill>
                <a:latin typeface="Calibri" pitchFamily="34" charset="0"/>
                <a:ea typeface="Calibri" pitchFamily="34" charset="-122"/>
                <a:cs typeface="Calibri" pitchFamily="34" charset="-120"/>
              </a:rPr>
              <a:t>Debt-to-equity fell by more than half, from 0.98x to 0.42x, as long-term debt was paid down while equity grew from retained earnings. Interest coverage more than tripled, from 5.63x to 18.90x, meaning operating income now covers interest expense with a wide margin of safety.</a:t>
            </a:r>
            <a:endParaRPr lang="en-US" sz="1200" dirty="0"/>
          </a:p>
          <a:p>
            <a:pPr marL="0" indent="0">
              <a:lnSpc>
                <a:spcPct val="130000"/>
              </a:lnSpc>
              <a:buNone/>
            </a:pPr>
            <a:endParaRPr lang="en-US" sz="1200" dirty="0"/>
          </a:p>
          <a:p>
            <a:pPr marL="0" indent="0">
              <a:lnSpc>
                <a:spcPct val="130000"/>
              </a:lnSpc>
              <a:buNone/>
            </a:pPr>
            <a:r>
              <a:rPr lang="en-US" sz="1200" dirty="0">
                <a:solidFill>
                  <a:srgbClr val="222222"/>
                </a:solidFill>
                <a:latin typeface="Calibri" pitchFamily="34" charset="0"/>
                <a:ea typeface="Calibri" pitchFamily="34" charset="-122"/>
                <a:cs typeface="Calibri" pitchFamily="34" charset="-120"/>
              </a:rPr>
              <a:t>All three leverage ratios rate “Strong.”</a:t>
            </a:r>
            <a:endParaRPr lang="en-US" sz="1200" dirty="0"/>
          </a:p>
        </p:txBody>
      </p:sp>
      <p:sp>
        <p:nvSpPr>
          <p:cNvPr id="8" name="Text 5"/>
          <p:cNvSpPr/>
          <p:nvPr/>
        </p:nvSpPr>
        <p:spPr>
          <a:xfrm>
            <a:off x="11521440" y="6446520"/>
            <a:ext cx="457200" cy="274320"/>
          </a:xfrm>
          <a:prstGeom prst="rect">
            <a:avLst/>
          </a:prstGeom>
          <a:noFill/>
          <a:ln/>
        </p:spPr>
        <p:txBody>
          <a:bodyPr wrap="square"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6</a:t>
            </a:r>
            <a:endParaRPr lang="en-US" sz="1000" dirty="0"/>
          </a:p>
        </p:txBody>
      </p:sp>
      <p:sp>
        <p:nvSpPr>
          <p:cNvPr id="9" name="Text 6"/>
          <p:cNvSpPr/>
          <p:nvPr/>
        </p:nvSpPr>
        <p:spPr>
          <a:xfrm>
            <a:off x="548640" y="6446520"/>
            <a:ext cx="7315200" cy="274320"/>
          </a:xfrm>
          <a:prstGeom prst="rect">
            <a:avLst/>
          </a:prstGeom>
          <a:noFill/>
          <a:ln/>
        </p:spPr>
        <p:txBody>
          <a:bodyPr wrap="square" rtlCol="0" anchor="ctr"/>
          <a:lstStyle/>
          <a:p>
            <a:pPr marL="0" indent="0">
              <a:buNone/>
            </a:pPr>
            <a:r>
              <a:rPr lang="en-US" sz="1000" dirty="0">
                <a:solidFill>
                  <a:srgbClr val="5B6472"/>
                </a:solidFill>
                <a:latin typeface="Calibri" pitchFamily="34" charset="0"/>
                <a:ea typeface="Calibri" pitchFamily="34" charset="-122"/>
                <a:cs typeface="Calibri" pitchFamily="34" charset="-120"/>
              </a:rPr>
              <a:t>Meridian Retail Group  |  Financial Health Analysis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B8922A"/>
                </a:solidFill>
                <a:latin typeface="Calibri" pitchFamily="34" charset="0"/>
                <a:ea typeface="Calibri" pitchFamily="34" charset="-122"/>
                <a:cs typeface="Calibri" pitchFamily="34" charset="-120"/>
              </a:rPr>
              <a:t>EFFICIENCY</a:t>
            </a:r>
            <a:endParaRPr lang="en-US" sz="1200" dirty="0"/>
          </a:p>
        </p:txBody>
      </p:sp>
      <p:sp>
        <p:nvSpPr>
          <p:cNvPr id="3" name="Text 1"/>
          <p:cNvSpPr/>
          <p:nvPr/>
        </p:nvSpPr>
        <p:spPr>
          <a:xfrm>
            <a:off x="548640" y="658368"/>
            <a:ext cx="11064240" cy="64008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Assets and working capital are being put to better use</a:t>
            </a:r>
            <a:endParaRPr lang="en-US" sz="2800" dirty="0"/>
          </a:p>
        </p:txBody>
      </p:sp>
      <p:graphicFrame>
        <p:nvGraphicFramePr>
          <p:cNvPr id="4" name="Chart 0"/>
          <p:cNvGraphicFramePr/>
          <p:nvPr/>
        </p:nvGraphicFramePr>
        <p:xfrm>
          <a:off x="548640" y="1508760"/>
          <a:ext cx="7040880" cy="44348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818120" y="1508760"/>
            <a:ext cx="3794760" cy="4434840"/>
          </a:xfrm>
          <a:prstGeom prst="rect">
            <a:avLst/>
          </a:prstGeom>
          <a:solidFill>
            <a:srgbClr val="F4F6FB"/>
          </a:solidFill>
          <a:ln w="12700">
            <a:solidFill>
              <a:srgbClr val="D9DEE8"/>
            </a:solidFill>
            <a:prstDash val="solid"/>
          </a:ln>
        </p:spPr>
      </p:sp>
      <p:sp>
        <p:nvSpPr>
          <p:cNvPr id="6" name="Text 3"/>
          <p:cNvSpPr/>
          <p:nvPr/>
        </p:nvSpPr>
        <p:spPr>
          <a:xfrm>
            <a:off x="8092440" y="1783080"/>
            <a:ext cx="3246120" cy="274320"/>
          </a:xfrm>
          <a:prstGeom prst="rect">
            <a:avLst/>
          </a:prstGeom>
          <a:noFill/>
          <a:ln/>
        </p:spPr>
        <p:txBody>
          <a:bodyPr wrap="square" rtlCol="0" anchor="ctr"/>
          <a:lstStyle/>
          <a:p>
            <a:pPr marL="0" indent="0">
              <a:buNone/>
            </a:pPr>
            <a:r>
              <a:rPr lang="en-US" sz="1050" b="1" kern="0" spc="100" dirty="0">
                <a:solidFill>
                  <a:srgbClr val="B8922A"/>
                </a:solidFill>
                <a:latin typeface="Calibri" pitchFamily="34" charset="0"/>
                <a:ea typeface="Calibri" pitchFamily="34" charset="-122"/>
                <a:cs typeface="Calibri" pitchFamily="34" charset="-120"/>
              </a:rPr>
              <a:t>WHAT THE TREND SHOWS</a:t>
            </a:r>
            <a:endParaRPr lang="en-US" sz="1050" dirty="0"/>
          </a:p>
        </p:txBody>
      </p:sp>
      <p:sp>
        <p:nvSpPr>
          <p:cNvPr id="7" name="Text 4"/>
          <p:cNvSpPr/>
          <p:nvPr/>
        </p:nvSpPr>
        <p:spPr>
          <a:xfrm>
            <a:off x="8092440" y="2103120"/>
            <a:ext cx="3246120" cy="3657600"/>
          </a:xfrm>
          <a:prstGeom prst="rect">
            <a:avLst/>
          </a:prstGeom>
          <a:noFill/>
          <a:ln/>
        </p:spPr>
        <p:txBody>
          <a:bodyPr wrap="square" rtlCol="0" anchor="ctr"/>
          <a:lstStyle/>
          <a:p>
            <a:pPr marL="0" indent="0">
              <a:lnSpc>
                <a:spcPct val="130000"/>
              </a:lnSpc>
              <a:buNone/>
            </a:pPr>
            <a:r>
              <a:rPr lang="en-US" sz="1200" dirty="0">
                <a:solidFill>
                  <a:srgbClr val="222222"/>
                </a:solidFill>
                <a:latin typeface="Calibri" pitchFamily="34" charset="0"/>
                <a:ea typeface="Calibri" pitchFamily="34" charset="-122"/>
                <a:cs typeface="Calibri" pitchFamily="34" charset="-120"/>
              </a:rPr>
              <a:t>Asset turnover improved from 1.38x to 1.61x, meaning each dollar of assets now generates more revenue. Inventory turns rose from 4.80x to 5.48x and receivables turnover improved from 10.00x to 10.83x, pointing to tighter inventory management and faster collections.</a:t>
            </a:r>
            <a:endParaRPr lang="en-US" sz="1200" dirty="0"/>
          </a:p>
          <a:p>
            <a:pPr marL="0" indent="0">
              <a:lnSpc>
                <a:spcPct val="130000"/>
              </a:lnSpc>
              <a:buNone/>
            </a:pPr>
            <a:endParaRPr lang="en-US" sz="1200" dirty="0"/>
          </a:p>
          <a:p>
            <a:pPr marL="0" indent="0">
              <a:lnSpc>
                <a:spcPct val="130000"/>
              </a:lnSpc>
              <a:buNone/>
            </a:pPr>
            <a:r>
              <a:rPr lang="en-US" sz="1200" dirty="0">
                <a:solidFill>
                  <a:srgbClr val="222222"/>
                </a:solidFill>
                <a:latin typeface="Calibri" pitchFamily="34" charset="0"/>
                <a:ea typeface="Calibri" pitchFamily="34" charset="-122"/>
                <a:cs typeface="Calibri" pitchFamily="34" charset="-120"/>
              </a:rPr>
              <a:t>All three efficiency ratios rate “Strong.”</a:t>
            </a:r>
            <a:endParaRPr lang="en-US" sz="1200" dirty="0"/>
          </a:p>
        </p:txBody>
      </p:sp>
      <p:sp>
        <p:nvSpPr>
          <p:cNvPr id="8" name="Text 5"/>
          <p:cNvSpPr/>
          <p:nvPr/>
        </p:nvSpPr>
        <p:spPr>
          <a:xfrm>
            <a:off x="11521440" y="6446520"/>
            <a:ext cx="457200" cy="274320"/>
          </a:xfrm>
          <a:prstGeom prst="rect">
            <a:avLst/>
          </a:prstGeom>
          <a:noFill/>
          <a:ln/>
        </p:spPr>
        <p:txBody>
          <a:bodyPr wrap="square"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7</a:t>
            </a:r>
            <a:endParaRPr lang="en-US" sz="1000" dirty="0"/>
          </a:p>
        </p:txBody>
      </p:sp>
      <p:sp>
        <p:nvSpPr>
          <p:cNvPr id="9" name="Text 6"/>
          <p:cNvSpPr/>
          <p:nvPr/>
        </p:nvSpPr>
        <p:spPr>
          <a:xfrm>
            <a:off x="548640" y="6446520"/>
            <a:ext cx="7315200" cy="274320"/>
          </a:xfrm>
          <a:prstGeom prst="rect">
            <a:avLst/>
          </a:prstGeom>
          <a:noFill/>
          <a:ln/>
        </p:spPr>
        <p:txBody>
          <a:bodyPr wrap="square" rtlCol="0" anchor="ctr"/>
          <a:lstStyle/>
          <a:p>
            <a:pPr marL="0" indent="0">
              <a:buNone/>
            </a:pPr>
            <a:r>
              <a:rPr lang="en-US" sz="1000" dirty="0">
                <a:solidFill>
                  <a:srgbClr val="5B6472"/>
                </a:solidFill>
                <a:latin typeface="Calibri" pitchFamily="34" charset="0"/>
                <a:ea typeface="Calibri" pitchFamily="34" charset="-122"/>
                <a:cs typeface="Calibri" pitchFamily="34" charset="-120"/>
              </a:rPr>
              <a:t>Meridian Retail Group  |  Financial Health Analysis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B8922A"/>
                </a:solidFill>
                <a:latin typeface="Calibri" pitchFamily="34" charset="0"/>
                <a:ea typeface="Calibri" pitchFamily="34" charset="-122"/>
                <a:cs typeface="Calibri" pitchFamily="34" charset="-120"/>
              </a:rPr>
              <a:t>KEY INSIGHTS</a:t>
            </a:r>
            <a:endParaRPr lang="en-US" sz="1200" dirty="0"/>
          </a:p>
        </p:txBody>
      </p:sp>
      <p:sp>
        <p:nvSpPr>
          <p:cNvPr id="3" name="Text 1"/>
          <p:cNvSpPr/>
          <p:nvPr/>
        </p:nvSpPr>
        <p:spPr>
          <a:xfrm>
            <a:off x="548640" y="658368"/>
            <a:ext cx="11064240" cy="64008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What is driving the improvement — and what to watch</a:t>
            </a:r>
            <a:endParaRPr lang="en-US" sz="2800" dirty="0"/>
          </a:p>
        </p:txBody>
      </p:sp>
      <p:sp>
        <p:nvSpPr>
          <p:cNvPr id="4" name="Text 2"/>
          <p:cNvSpPr/>
          <p:nvPr/>
        </p:nvSpPr>
        <p:spPr>
          <a:xfrm>
            <a:off x="548640" y="1463040"/>
            <a:ext cx="5394960" cy="274320"/>
          </a:xfrm>
          <a:prstGeom prst="rect">
            <a:avLst/>
          </a:prstGeom>
          <a:noFill/>
          <a:ln/>
        </p:spPr>
        <p:txBody>
          <a:bodyPr wrap="square" rtlCol="0" anchor="ctr"/>
          <a:lstStyle/>
          <a:p>
            <a:pPr marL="0" indent="0">
              <a:buNone/>
            </a:pPr>
            <a:r>
              <a:rPr lang="en-US" sz="1200" b="1" kern="0" spc="100" dirty="0">
                <a:solidFill>
                  <a:srgbClr val="2E7D32"/>
                </a:solidFill>
                <a:latin typeface="Calibri" pitchFamily="34" charset="0"/>
                <a:ea typeface="Calibri" pitchFamily="34" charset="-122"/>
                <a:cs typeface="Calibri" pitchFamily="34" charset="-120"/>
              </a:rPr>
              <a:t>STRENGTHS</a:t>
            </a:r>
            <a:endParaRPr lang="en-US" sz="1200" dirty="0"/>
          </a:p>
        </p:txBody>
      </p:sp>
      <p:sp>
        <p:nvSpPr>
          <p:cNvPr id="5" name="Text 3"/>
          <p:cNvSpPr/>
          <p:nvPr/>
        </p:nvSpPr>
        <p:spPr>
          <a:xfrm>
            <a:off x="6263640" y="1463040"/>
            <a:ext cx="5394960" cy="274320"/>
          </a:xfrm>
          <a:prstGeom prst="rect">
            <a:avLst/>
          </a:prstGeom>
          <a:noFill/>
          <a:ln/>
        </p:spPr>
        <p:txBody>
          <a:bodyPr wrap="square" rtlCol="0" anchor="ctr"/>
          <a:lstStyle/>
          <a:p>
            <a:pPr marL="0" indent="0">
              <a:buNone/>
            </a:pPr>
            <a:r>
              <a:rPr lang="en-US" sz="1200" b="1" kern="0" spc="100" dirty="0">
                <a:solidFill>
                  <a:srgbClr val="B8922A"/>
                </a:solidFill>
                <a:latin typeface="Calibri" pitchFamily="34" charset="0"/>
                <a:ea typeface="Calibri" pitchFamily="34" charset="-122"/>
                <a:cs typeface="Calibri" pitchFamily="34" charset="-120"/>
              </a:rPr>
              <a:t>WATCH ITEMS</a:t>
            </a:r>
            <a:endParaRPr lang="en-US" sz="1200" dirty="0"/>
          </a:p>
        </p:txBody>
      </p:sp>
      <p:sp>
        <p:nvSpPr>
          <p:cNvPr id="6" name="Text 4"/>
          <p:cNvSpPr/>
          <p:nvPr/>
        </p:nvSpPr>
        <p:spPr>
          <a:xfrm>
            <a:off x="548640" y="1874520"/>
            <a:ext cx="5394960" cy="320040"/>
          </a:xfrm>
          <a:prstGeom prst="rect">
            <a:avLst/>
          </a:prstGeom>
          <a:noFill/>
          <a:ln/>
        </p:spPr>
        <p:txBody>
          <a:bodyPr wrap="square"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Margin expansion is broad-based</a:t>
            </a:r>
            <a:endParaRPr lang="en-US" sz="1350" dirty="0"/>
          </a:p>
        </p:txBody>
      </p:sp>
      <p:sp>
        <p:nvSpPr>
          <p:cNvPr id="7" name="Text 5"/>
          <p:cNvSpPr/>
          <p:nvPr/>
        </p:nvSpPr>
        <p:spPr>
          <a:xfrm>
            <a:off x="548640" y="2194560"/>
            <a:ext cx="5394960" cy="914400"/>
          </a:xfrm>
          <a:prstGeom prst="rect">
            <a:avLst/>
          </a:prstGeom>
          <a:noFill/>
          <a:ln/>
        </p:spPr>
        <p:txBody>
          <a:bodyPr wrap="square" rtlCol="0" anchor="ctr"/>
          <a:lstStyle/>
          <a:p>
            <a:pPr marL="0" indent="0">
              <a:lnSpc>
                <a:spcPct val="125000"/>
              </a:lnSpc>
              <a:buNone/>
            </a:pPr>
            <a:r>
              <a:rPr lang="en-US" sz="1100" dirty="0">
                <a:solidFill>
                  <a:srgbClr val="222222"/>
                </a:solidFill>
                <a:latin typeface="Calibri" pitchFamily="34" charset="0"/>
                <a:ea typeface="Calibri" pitchFamily="34" charset="-122"/>
                <a:cs typeface="Calibri" pitchFamily="34" charset="-120"/>
              </a:rPr>
              <a:t>Gross, operating, and net margins all improved together, indicating pricing discipline and cost control rather than a one-time item.</a:t>
            </a:r>
            <a:endParaRPr lang="en-US" sz="1100" dirty="0"/>
          </a:p>
        </p:txBody>
      </p:sp>
      <p:sp>
        <p:nvSpPr>
          <p:cNvPr id="8" name="Text 6"/>
          <p:cNvSpPr/>
          <p:nvPr/>
        </p:nvSpPr>
        <p:spPr>
          <a:xfrm>
            <a:off x="548640" y="3291840"/>
            <a:ext cx="5394960" cy="320040"/>
          </a:xfrm>
          <a:prstGeom prst="rect">
            <a:avLst/>
          </a:prstGeom>
          <a:noFill/>
          <a:ln/>
        </p:spPr>
        <p:txBody>
          <a:bodyPr wrap="square"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Deleveraging is intentional</a:t>
            </a:r>
            <a:endParaRPr lang="en-US" sz="1350" dirty="0"/>
          </a:p>
        </p:txBody>
      </p:sp>
      <p:sp>
        <p:nvSpPr>
          <p:cNvPr id="9" name="Text 7"/>
          <p:cNvSpPr/>
          <p:nvPr/>
        </p:nvSpPr>
        <p:spPr>
          <a:xfrm>
            <a:off x="548640" y="3611880"/>
            <a:ext cx="5394960" cy="914400"/>
          </a:xfrm>
          <a:prstGeom prst="rect">
            <a:avLst/>
          </a:prstGeom>
          <a:noFill/>
          <a:ln/>
        </p:spPr>
        <p:txBody>
          <a:bodyPr wrap="square" rtlCol="0" anchor="ctr"/>
          <a:lstStyle/>
          <a:p>
            <a:pPr marL="0" indent="0">
              <a:lnSpc>
                <a:spcPct val="125000"/>
              </a:lnSpc>
              <a:buNone/>
            </a:pPr>
            <a:r>
              <a:rPr lang="en-US" sz="1100" dirty="0">
                <a:solidFill>
                  <a:srgbClr val="222222"/>
                </a:solidFill>
                <a:latin typeface="Calibri" pitchFamily="34" charset="0"/>
                <a:ea typeface="Calibri" pitchFamily="34" charset="-122"/>
                <a:cs typeface="Calibri" pitchFamily="34" charset="-120"/>
              </a:rPr>
              <a:t>Long-term debt fell every year while equity grew, a deliberate shift toward a more conservative capital structure.</a:t>
            </a:r>
            <a:endParaRPr lang="en-US" sz="1100" dirty="0"/>
          </a:p>
        </p:txBody>
      </p:sp>
      <p:sp>
        <p:nvSpPr>
          <p:cNvPr id="10" name="Text 8"/>
          <p:cNvSpPr/>
          <p:nvPr/>
        </p:nvSpPr>
        <p:spPr>
          <a:xfrm>
            <a:off x="548640" y="4709160"/>
            <a:ext cx="5394960" cy="320040"/>
          </a:xfrm>
          <a:prstGeom prst="rect">
            <a:avLst/>
          </a:prstGeom>
          <a:noFill/>
          <a:ln/>
        </p:spPr>
        <p:txBody>
          <a:bodyPr wrap="square"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Working capital is well managed</a:t>
            </a:r>
            <a:endParaRPr lang="en-US" sz="1350" dirty="0"/>
          </a:p>
        </p:txBody>
      </p:sp>
      <p:sp>
        <p:nvSpPr>
          <p:cNvPr id="11" name="Text 9"/>
          <p:cNvSpPr/>
          <p:nvPr/>
        </p:nvSpPr>
        <p:spPr>
          <a:xfrm>
            <a:off x="548640" y="5029200"/>
            <a:ext cx="5394960" cy="914400"/>
          </a:xfrm>
          <a:prstGeom prst="rect">
            <a:avLst/>
          </a:prstGeom>
          <a:noFill/>
          <a:ln/>
        </p:spPr>
        <p:txBody>
          <a:bodyPr wrap="square" rtlCol="0" anchor="ctr"/>
          <a:lstStyle/>
          <a:p>
            <a:pPr marL="0" indent="0">
              <a:lnSpc>
                <a:spcPct val="125000"/>
              </a:lnSpc>
              <a:buNone/>
            </a:pPr>
            <a:r>
              <a:rPr lang="en-US" sz="1100" dirty="0">
                <a:solidFill>
                  <a:srgbClr val="222222"/>
                </a:solidFill>
                <a:latin typeface="Calibri" pitchFamily="34" charset="0"/>
                <a:ea typeface="Calibri" pitchFamily="34" charset="-122"/>
                <a:cs typeface="Calibri" pitchFamily="34" charset="-120"/>
              </a:rPr>
              <a:t>Rising inventory and receivables turnover show the company is converting working capital into cash faster each year.</a:t>
            </a:r>
            <a:endParaRPr lang="en-US" sz="1100" dirty="0"/>
          </a:p>
        </p:txBody>
      </p:sp>
      <p:sp>
        <p:nvSpPr>
          <p:cNvPr id="12" name="Text 10"/>
          <p:cNvSpPr/>
          <p:nvPr/>
        </p:nvSpPr>
        <p:spPr>
          <a:xfrm>
            <a:off x="6263640" y="1874520"/>
            <a:ext cx="5394960" cy="320040"/>
          </a:xfrm>
          <a:prstGeom prst="rect">
            <a:avLst/>
          </a:prstGeom>
          <a:noFill/>
          <a:ln/>
        </p:spPr>
        <p:txBody>
          <a:bodyPr wrap="square"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Cash ratio, while improved, still trails peers</a:t>
            </a:r>
            <a:endParaRPr lang="en-US" sz="1350" dirty="0"/>
          </a:p>
        </p:txBody>
      </p:sp>
      <p:sp>
        <p:nvSpPr>
          <p:cNvPr id="13" name="Text 11"/>
          <p:cNvSpPr/>
          <p:nvPr/>
        </p:nvSpPr>
        <p:spPr>
          <a:xfrm>
            <a:off x="6263640" y="2194560"/>
            <a:ext cx="5394960" cy="914400"/>
          </a:xfrm>
          <a:prstGeom prst="rect">
            <a:avLst/>
          </a:prstGeom>
          <a:noFill/>
          <a:ln/>
        </p:spPr>
        <p:txBody>
          <a:bodyPr wrap="square" rtlCol="0" anchor="ctr"/>
          <a:lstStyle/>
          <a:p>
            <a:pPr marL="0" indent="0">
              <a:lnSpc>
                <a:spcPct val="125000"/>
              </a:lnSpc>
              <a:buNone/>
            </a:pPr>
            <a:r>
              <a:rPr lang="en-US" sz="1100" dirty="0">
                <a:solidFill>
                  <a:srgbClr val="222222"/>
                </a:solidFill>
                <a:latin typeface="Calibri" pitchFamily="34" charset="0"/>
                <a:ea typeface="Calibri" pitchFamily="34" charset="-122"/>
                <a:cs typeface="Calibri" pitchFamily="34" charset="-120"/>
              </a:rPr>
              <a:t>A 1.05x cash ratio is healthy but worth monitoring if growth investment accelerates and draws down the cash balance.</a:t>
            </a:r>
            <a:endParaRPr lang="en-US" sz="1100" dirty="0"/>
          </a:p>
        </p:txBody>
      </p:sp>
      <p:sp>
        <p:nvSpPr>
          <p:cNvPr id="14" name="Text 12"/>
          <p:cNvSpPr/>
          <p:nvPr/>
        </p:nvSpPr>
        <p:spPr>
          <a:xfrm>
            <a:off x="6263640" y="3291840"/>
            <a:ext cx="5394960" cy="320040"/>
          </a:xfrm>
          <a:prstGeom prst="rect">
            <a:avLst/>
          </a:prstGeom>
          <a:noFill/>
          <a:ln/>
        </p:spPr>
        <p:txBody>
          <a:bodyPr wrap="square"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Growth has outpaced fixed-asset investment</a:t>
            </a:r>
            <a:endParaRPr lang="en-US" sz="1350" dirty="0"/>
          </a:p>
        </p:txBody>
      </p:sp>
      <p:sp>
        <p:nvSpPr>
          <p:cNvPr id="15" name="Text 13"/>
          <p:cNvSpPr/>
          <p:nvPr/>
        </p:nvSpPr>
        <p:spPr>
          <a:xfrm>
            <a:off x="6263640" y="3611880"/>
            <a:ext cx="5394960" cy="914400"/>
          </a:xfrm>
          <a:prstGeom prst="rect">
            <a:avLst/>
          </a:prstGeom>
          <a:noFill/>
          <a:ln/>
        </p:spPr>
        <p:txBody>
          <a:bodyPr wrap="square" rtlCol="0" anchor="ctr"/>
          <a:lstStyle/>
          <a:p>
            <a:pPr marL="0" indent="0">
              <a:lnSpc>
                <a:spcPct val="125000"/>
              </a:lnSpc>
              <a:buNone/>
            </a:pPr>
            <a:r>
              <a:rPr lang="en-US" sz="1100" dirty="0">
                <a:solidFill>
                  <a:srgbClr val="222222"/>
                </a:solidFill>
                <a:latin typeface="Calibri" pitchFamily="34" charset="0"/>
                <a:ea typeface="Calibri" pitchFamily="34" charset="-122"/>
                <a:cs typeface="Calibri" pitchFamily="34" charset="-120"/>
              </a:rPr>
              <a:t>PP&amp;E grew more slowly than revenue; capacity constraints are worth confirming with operations as volume scales further.</a:t>
            </a:r>
            <a:endParaRPr lang="en-US" sz="1100" dirty="0"/>
          </a:p>
        </p:txBody>
      </p:sp>
      <p:sp>
        <p:nvSpPr>
          <p:cNvPr id="16" name="Text 14"/>
          <p:cNvSpPr/>
          <p:nvPr/>
        </p:nvSpPr>
        <p:spPr>
          <a:xfrm>
            <a:off x="6263640" y="4709160"/>
            <a:ext cx="5394960" cy="320040"/>
          </a:xfrm>
          <a:prstGeom prst="rect">
            <a:avLst/>
          </a:prstGeom>
          <a:noFill/>
          <a:ln/>
        </p:spPr>
        <p:txBody>
          <a:bodyPr wrap="square"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Sustaining the ROE trend requires reinvestment discipline</a:t>
            </a:r>
            <a:endParaRPr lang="en-US" sz="1350" dirty="0"/>
          </a:p>
        </p:txBody>
      </p:sp>
      <p:sp>
        <p:nvSpPr>
          <p:cNvPr id="17" name="Text 15"/>
          <p:cNvSpPr/>
          <p:nvPr/>
        </p:nvSpPr>
        <p:spPr>
          <a:xfrm>
            <a:off x="6263640" y="5029200"/>
            <a:ext cx="5394960" cy="914400"/>
          </a:xfrm>
          <a:prstGeom prst="rect">
            <a:avLst/>
          </a:prstGeom>
          <a:noFill/>
          <a:ln/>
        </p:spPr>
        <p:txBody>
          <a:bodyPr wrap="square" rtlCol="0" anchor="ctr"/>
          <a:lstStyle/>
          <a:p>
            <a:pPr marL="0" indent="0">
              <a:lnSpc>
                <a:spcPct val="125000"/>
              </a:lnSpc>
              <a:buNone/>
            </a:pPr>
            <a:r>
              <a:rPr lang="en-US" sz="1100" dirty="0">
                <a:solidFill>
                  <a:srgbClr val="222222"/>
                </a:solidFill>
                <a:latin typeface="Calibri" pitchFamily="34" charset="0"/>
                <a:ea typeface="Calibri" pitchFamily="34" charset="-122"/>
                <a:cs typeface="Calibri" pitchFamily="34" charset="-120"/>
              </a:rPr>
              <a:t>ROE gains partly reflect a shrinking equity base being paid down less — continued growth will depend on reinvesting profitably.</a:t>
            </a:r>
            <a:endParaRPr lang="en-US" sz="1100" dirty="0"/>
          </a:p>
        </p:txBody>
      </p:sp>
      <p:sp>
        <p:nvSpPr>
          <p:cNvPr id="18" name="Shape 16"/>
          <p:cNvSpPr/>
          <p:nvPr/>
        </p:nvSpPr>
        <p:spPr>
          <a:xfrm>
            <a:off x="6080760" y="1463040"/>
            <a:ext cx="0" cy="4709160"/>
          </a:xfrm>
          <a:prstGeom prst="line">
            <a:avLst/>
          </a:prstGeom>
          <a:noFill/>
          <a:ln w="12700">
            <a:solidFill>
              <a:srgbClr val="D9DEE8"/>
            </a:solidFill>
            <a:prstDash val="solid"/>
          </a:ln>
        </p:spPr>
      </p:sp>
      <p:sp>
        <p:nvSpPr>
          <p:cNvPr id="19" name="Text 17"/>
          <p:cNvSpPr/>
          <p:nvPr/>
        </p:nvSpPr>
        <p:spPr>
          <a:xfrm>
            <a:off x="11521440" y="6446520"/>
            <a:ext cx="457200" cy="274320"/>
          </a:xfrm>
          <a:prstGeom prst="rect">
            <a:avLst/>
          </a:prstGeom>
          <a:noFill/>
          <a:ln/>
        </p:spPr>
        <p:txBody>
          <a:bodyPr wrap="square"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8</a:t>
            </a:r>
            <a:endParaRPr lang="en-US" sz="1000" dirty="0"/>
          </a:p>
        </p:txBody>
      </p:sp>
      <p:sp>
        <p:nvSpPr>
          <p:cNvPr id="20" name="Text 18"/>
          <p:cNvSpPr/>
          <p:nvPr/>
        </p:nvSpPr>
        <p:spPr>
          <a:xfrm>
            <a:off x="548640" y="6446520"/>
            <a:ext cx="7315200" cy="274320"/>
          </a:xfrm>
          <a:prstGeom prst="rect">
            <a:avLst/>
          </a:prstGeom>
          <a:noFill/>
          <a:ln/>
        </p:spPr>
        <p:txBody>
          <a:bodyPr wrap="square" rtlCol="0" anchor="ctr"/>
          <a:lstStyle/>
          <a:p>
            <a:pPr marL="0" indent="0">
              <a:buNone/>
            </a:pPr>
            <a:r>
              <a:rPr lang="en-US" sz="1000" dirty="0">
                <a:solidFill>
                  <a:srgbClr val="5B6472"/>
                </a:solidFill>
                <a:latin typeface="Calibri" pitchFamily="34" charset="0"/>
                <a:ea typeface="Calibri" pitchFamily="34" charset="-122"/>
                <a:cs typeface="Calibri" pitchFamily="34" charset="-120"/>
              </a:rPr>
              <a:t>Meridian Retail Group  |  Financial Health Analysis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822960" y="2286000"/>
            <a:ext cx="10515600" cy="9144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Overall financial health: Strong and improving</a:t>
            </a:r>
            <a:endParaRPr lang="en-US" sz="3200" dirty="0"/>
          </a:p>
        </p:txBody>
      </p:sp>
      <p:sp>
        <p:nvSpPr>
          <p:cNvPr id="3" name="Text 1"/>
          <p:cNvSpPr/>
          <p:nvPr/>
        </p:nvSpPr>
        <p:spPr>
          <a:xfrm>
            <a:off x="822960" y="3291840"/>
            <a:ext cx="9875520" cy="1097280"/>
          </a:xfrm>
          <a:prstGeom prst="rect">
            <a:avLst/>
          </a:prstGeom>
          <a:noFill/>
          <a:ln/>
        </p:spPr>
        <p:txBody>
          <a:bodyPr wrap="square" rtlCol="0" anchor="ctr"/>
          <a:lstStyle/>
          <a:p>
            <a:pPr marL="0" indent="0">
              <a:lnSpc>
                <a:spcPct val="130000"/>
              </a:lnSpc>
              <a:buNone/>
            </a:pPr>
            <a:r>
              <a:rPr lang="en-US" sz="1400" dirty="0">
                <a:solidFill>
                  <a:srgbClr val="CADCFC"/>
                </a:solidFill>
                <a:latin typeface="Calibri" pitchFamily="34" charset="0"/>
                <a:ea typeface="Calibri" pitchFamily="34" charset="-122"/>
                <a:cs typeface="Calibri" pitchFamily="34" charset="-120"/>
              </a:rPr>
              <a:t>Twelve of fourteen tracked ratios rate “Strong” against benchmark in FY2024, with the remaining two close behind. The five-year trend across liquidity, profitability, leverage, and efficiency points in one direction — a business converting growth into a more resilient balance sheet.</a:t>
            </a:r>
            <a:endParaRPr lang="en-US" sz="1400" dirty="0"/>
          </a:p>
        </p:txBody>
      </p:sp>
      <p:sp>
        <p:nvSpPr>
          <p:cNvPr id="4" name="Text 2"/>
          <p:cNvSpPr/>
          <p:nvPr/>
        </p:nvSpPr>
        <p:spPr>
          <a:xfrm>
            <a:off x="822960" y="4663440"/>
            <a:ext cx="9875520" cy="457200"/>
          </a:xfrm>
          <a:prstGeom prst="rect">
            <a:avLst/>
          </a:prstGeom>
          <a:noFill/>
          <a:ln/>
        </p:spPr>
        <p:txBody>
          <a:bodyPr wrap="square" rtlCol="0" anchor="ctr"/>
          <a:lstStyle/>
          <a:p>
            <a:pPr marL="0" indent="0">
              <a:buNone/>
            </a:pPr>
            <a:r>
              <a:rPr lang="en-US" sz="1200" i="1" dirty="0">
                <a:solidFill>
                  <a:srgbClr val="8C9BC4"/>
                </a:solidFill>
                <a:latin typeface="Calibri" pitchFamily="34" charset="0"/>
                <a:ea typeface="Calibri" pitchFamily="34" charset="-122"/>
                <a:cs typeface="Calibri" pitchFamily="34" charset="-120"/>
              </a:rPr>
              <a:t>Full detail, formulas, and source data are available in the accompanying Excel dashboard.</a:t>
            </a:r>
            <a:endParaRPr lang="en-US" sz="1200" dirty="0"/>
          </a:p>
        </p:txBody>
      </p:sp>
      <p:sp>
        <p:nvSpPr>
          <p:cNvPr id="5" name="Text 3"/>
          <p:cNvSpPr/>
          <p:nvPr/>
        </p:nvSpPr>
        <p:spPr>
          <a:xfrm>
            <a:off x="822960" y="5760720"/>
            <a:ext cx="7315200" cy="548640"/>
          </a:xfrm>
          <a:prstGeom prst="rect">
            <a:avLst/>
          </a:prstGeom>
          <a:noFill/>
          <a:ln/>
        </p:spPr>
        <p:txBody>
          <a:bodyPr wrap="square" rtlCol="0" anchor="ctr"/>
          <a:lstStyle/>
          <a:p>
            <a:pPr marL="0" indent="0">
              <a:buNone/>
            </a:pPr>
            <a:r>
              <a:rPr lang="en-US" sz="2000" b="1" dirty="0">
                <a:solidFill>
                  <a:srgbClr val="B8922A"/>
                </a:solidFill>
                <a:latin typeface="Cambria" pitchFamily="34" charset="0"/>
                <a:ea typeface="Cambria" pitchFamily="34" charset="-122"/>
                <a:cs typeface="Cambria" pitchFamily="34" charset="-120"/>
              </a:rPr>
              <a:t>Thank you</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962</Words>
  <Application>Microsoft Office PowerPoint</Application>
  <PresentationFormat>Custom</PresentationFormat>
  <Paragraphs>112</Paragraphs>
  <Slides>9</Slides>
  <Notes>9</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dell</cp:lastModifiedBy>
  <cp:revision>1</cp:revision>
  <dcterms:created xsi:type="dcterms:W3CDTF">2026-08-06T06:54:12Z</dcterms:created>
  <dcterms:modified xsi:type="dcterms:W3CDTF">2026-08-07T01:57:06Z</dcterms:modified>
</cp:coreProperties>
</file>